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e9cbbfc906422d" /><Relationship Type="http://schemas.openxmlformats.org/officeDocument/2006/relationships/extended-properties" Target="/docProps/app.xml" Id="R0c176b683eca482e" /><Relationship Type="http://schemas.openxmlformats.org/officeDocument/2006/relationships/officeDocument" Target="/ppt/presentation.xml" Id="Redd9ec6d952f43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3f60fe1914db3"/>
  </p:sldMasterIdLst>
  <p:notesMasterIdLst>
    <p:notesMasterId xmlns:r="http://schemas.openxmlformats.org/officeDocument/2006/relationships" r:id="R6cf0d9f62df94640"/>
  </p:notesMasterIdLst>
  <p:sldIdLst>
    <p:sldId xmlns:r="http://schemas.openxmlformats.org/officeDocument/2006/relationships" id="256" r:id="R47e50ec667114e67"/>
    <p:sldId xmlns:r="http://schemas.openxmlformats.org/officeDocument/2006/relationships" id="257" r:id="R33f19c5365fd4df7"/>
    <p:sldId xmlns:r="http://schemas.openxmlformats.org/officeDocument/2006/relationships" id="258" r:id="R7f787adb90da4044"/>
    <p:sldId xmlns:r="http://schemas.openxmlformats.org/officeDocument/2006/relationships" id="259" r:id="Raddea60c938e4cab"/>
    <p:sldId xmlns:r="http://schemas.openxmlformats.org/officeDocument/2006/relationships" id="260" r:id="R7b3af2efb51f46a5"/>
    <p:sldId xmlns:r="http://schemas.openxmlformats.org/officeDocument/2006/relationships" id="261" r:id="Ra9c754d706c44585"/>
    <p:sldId xmlns:r="http://schemas.openxmlformats.org/officeDocument/2006/relationships" id="262" r:id="R9df2633939554f69"/>
    <p:sldId xmlns:r="http://schemas.openxmlformats.org/officeDocument/2006/relationships" id="263" r:id="Rf3cafcc906a14004"/>
    <p:sldId xmlns:r="http://schemas.openxmlformats.org/officeDocument/2006/relationships" id="264" r:id="Rf3772564bed54dc9"/>
    <p:sldId xmlns:r="http://schemas.openxmlformats.org/officeDocument/2006/relationships" id="265" r:id="R0939dd9918384caa"/>
    <p:sldId xmlns:r="http://schemas.openxmlformats.org/officeDocument/2006/relationships" id="266" r:id="Rc531349f38a24c63"/>
    <p:sldId xmlns:r="http://schemas.openxmlformats.org/officeDocument/2006/relationships" id="267" r:id="R2a07f08fb0ff4202"/>
    <p:sldId xmlns:r="http://schemas.openxmlformats.org/officeDocument/2006/relationships" id="268" r:id="R95157ae6e56f486b"/>
    <p:sldId xmlns:r="http://schemas.openxmlformats.org/officeDocument/2006/relationships" id="269" r:id="Rf4d2511bef204fb3"/>
    <p:sldId xmlns:r="http://schemas.openxmlformats.org/officeDocument/2006/relationships" id="270" r:id="Ree2658d54b4e45ea"/>
    <p:sldId xmlns:r="http://schemas.openxmlformats.org/officeDocument/2006/relationships" id="271" r:id="R22068ebb117a4f1e"/>
    <p:sldId xmlns:r="http://schemas.openxmlformats.org/officeDocument/2006/relationships" id="272" r:id="R6f88e48a59884a44"/>
    <p:sldId xmlns:r="http://schemas.openxmlformats.org/officeDocument/2006/relationships" id="273" r:id="R53a6d6be988348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4d819432b040d1" /><Relationship Type="http://schemas.openxmlformats.org/officeDocument/2006/relationships/slideMaster" Target="/ppt/slideMasters/slideMaster1.xml" Id="R00c3f60fe1914db3" /><Relationship Type="http://schemas.openxmlformats.org/officeDocument/2006/relationships/notesMaster" Target="/ppt/notesMasters/notesMaster1.xml" Id="R6cf0d9f62df94640" /><Relationship Type="http://schemas.openxmlformats.org/officeDocument/2006/relationships/presProps" Target="/ppt/presProps.xml" Id="R46dc939f53f044cd" /><Relationship Type="http://schemas.openxmlformats.org/officeDocument/2006/relationships/tableStyles" Target="/ppt/tableStyles.xml" Id="R4aa34d503b994345" /><Relationship Type="http://schemas.openxmlformats.org/officeDocument/2006/relationships/slide" Target="/ppt/slides/slide1.xml" Id="R47e50ec667114e67" /><Relationship Type="http://schemas.openxmlformats.org/officeDocument/2006/relationships/slide" Target="/ppt/slides/slide2.xml" Id="R33f19c5365fd4df7" /><Relationship Type="http://schemas.openxmlformats.org/officeDocument/2006/relationships/slide" Target="/ppt/slides/slide3.xml" Id="R7f787adb90da4044" /><Relationship Type="http://schemas.openxmlformats.org/officeDocument/2006/relationships/slide" Target="/ppt/slides/slide4.xml" Id="Raddea60c938e4cab" /><Relationship Type="http://schemas.openxmlformats.org/officeDocument/2006/relationships/slide" Target="/ppt/slides/slide5.xml" Id="R7b3af2efb51f46a5" /><Relationship Type="http://schemas.openxmlformats.org/officeDocument/2006/relationships/slide" Target="/ppt/slides/slide6.xml" Id="Ra9c754d706c44585" /><Relationship Type="http://schemas.openxmlformats.org/officeDocument/2006/relationships/slide" Target="/ppt/slides/slide7.xml" Id="R9df2633939554f69" /><Relationship Type="http://schemas.openxmlformats.org/officeDocument/2006/relationships/slide" Target="/ppt/slides/slide8.xml" Id="Rf3cafcc906a14004" /><Relationship Type="http://schemas.openxmlformats.org/officeDocument/2006/relationships/slide" Target="/ppt/slides/slide9.xml" Id="Rf3772564bed54dc9" /><Relationship Type="http://schemas.openxmlformats.org/officeDocument/2006/relationships/slide" Target="/ppt/slides/slide10.xml" Id="R0939dd9918384caa" /><Relationship Type="http://schemas.openxmlformats.org/officeDocument/2006/relationships/slide" Target="/ppt/slides/slide11.xml" Id="Rc531349f38a24c63" /><Relationship Type="http://schemas.openxmlformats.org/officeDocument/2006/relationships/slide" Target="/ppt/slides/slide12.xml" Id="R2a07f08fb0ff4202" /><Relationship Type="http://schemas.openxmlformats.org/officeDocument/2006/relationships/slide" Target="/ppt/slides/slide13.xml" Id="R95157ae6e56f486b" /><Relationship Type="http://schemas.openxmlformats.org/officeDocument/2006/relationships/slide" Target="/ppt/slides/slide14.xml" Id="Rf4d2511bef204fb3" /><Relationship Type="http://schemas.openxmlformats.org/officeDocument/2006/relationships/slide" Target="/ppt/slides/slide15.xml" Id="Ree2658d54b4e45ea" /><Relationship Type="http://schemas.openxmlformats.org/officeDocument/2006/relationships/slide" Target="/ppt/slides/slide16.xml" Id="R22068ebb117a4f1e" /><Relationship Type="http://schemas.openxmlformats.org/officeDocument/2006/relationships/slide" Target="/ppt/slides/slide17.xml" Id="R6f88e48a59884a44" /><Relationship Type="http://schemas.openxmlformats.org/officeDocument/2006/relationships/slide" Target="/ppt/slides/slide18.xml" Id="R53a6d6be9883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6fdfc1fb7d45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5dc45549a84023" /><Relationship Type="http://schemas.openxmlformats.org/officeDocument/2006/relationships/notesMaster" Target="/ppt/notesMasters/notesMaster1.xml" Id="R306cf6966cfb41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2711a5252e4b68" /><Relationship Type="http://schemas.openxmlformats.org/officeDocument/2006/relationships/notesMaster" Target="/ppt/notesMasters/notesMaster1.xml" Id="R09119deec31a4b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0b1c31dda4449b" /><Relationship Type="http://schemas.openxmlformats.org/officeDocument/2006/relationships/notesMaster" Target="/ppt/notesMasters/notesMaster1.xml" Id="R5e65914bd29748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d470337e74472" /><Relationship Type="http://schemas.openxmlformats.org/officeDocument/2006/relationships/notesMaster" Target="/ppt/notesMasters/notesMaster1.xml" Id="R56893621d02a4e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e4fcb507f74223" /><Relationship Type="http://schemas.openxmlformats.org/officeDocument/2006/relationships/notesMaster" Target="/ppt/notesMasters/notesMaster1.xml" Id="R9372edfba56c4f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fd668e3c76442f" /><Relationship Type="http://schemas.openxmlformats.org/officeDocument/2006/relationships/notesMaster" Target="/ppt/notesMasters/notesMaster1.xml" Id="R8358c182bf3e4d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e44e8bd2a149a9" /><Relationship Type="http://schemas.openxmlformats.org/officeDocument/2006/relationships/notesMaster" Target="/ppt/notesMasters/notesMaster1.xml" Id="R5961a64ee05a44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5674f4fb1241ca" /><Relationship Type="http://schemas.openxmlformats.org/officeDocument/2006/relationships/notesMaster" Target="/ppt/notesMasters/notesMaster1.xml" Id="R151d1a6eb16145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bed5cde4384536" /><Relationship Type="http://schemas.openxmlformats.org/officeDocument/2006/relationships/notesMaster" Target="/ppt/notesMasters/notesMaster1.xml" Id="R153856430dc246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09783f25334e33" /><Relationship Type="http://schemas.openxmlformats.org/officeDocument/2006/relationships/notesMaster" Target="/ppt/notesMasters/notesMaster1.xml" Id="R0ff7049b3ae94b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b1b40f6dd54190" /><Relationship Type="http://schemas.openxmlformats.org/officeDocument/2006/relationships/notesMaster" Target="/ppt/notesMasters/notesMaster1.xml" Id="R346befa1c67244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37b48f32cf4532" /><Relationship Type="http://schemas.openxmlformats.org/officeDocument/2006/relationships/notesMaster" Target="/ppt/notesMasters/notesMaster1.xml" Id="R64997d593c114b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3b8464dacf42d2" /><Relationship Type="http://schemas.openxmlformats.org/officeDocument/2006/relationships/notesMaster" Target="/ppt/notesMasters/notesMaster1.xml" Id="R20e1a31b7be44c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1e703370b94fef" /><Relationship Type="http://schemas.openxmlformats.org/officeDocument/2006/relationships/notesMaster" Target="/ppt/notesMasters/notesMaster1.xml" Id="Rc271b33e371641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c04cffc29b4e1c" /><Relationship Type="http://schemas.openxmlformats.org/officeDocument/2006/relationships/notesMaster" Target="/ppt/notesMasters/notesMaster1.xml" Id="R65b020b5975546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690563e11f4e3f" /><Relationship Type="http://schemas.openxmlformats.org/officeDocument/2006/relationships/notesMaster" Target="/ppt/notesMasters/notesMaster1.xml" Id="R419fd2b426ac48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24d20658f4482a" /><Relationship Type="http://schemas.openxmlformats.org/officeDocument/2006/relationships/notesMaster" Target="/ppt/notesMasters/notesMaster1.xml" Id="R5b23f15b6d104b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3d798f699d4f6a" /><Relationship Type="http://schemas.openxmlformats.org/officeDocument/2006/relationships/notesMaster" Target="/ppt/notesMasters/notesMaster1.xml" Id="R8e5d238a0b48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HELIOS is consented pre-consultation preparation. Never say AI doctor, diagnosis, or deployment. Source: docs/SIH_README.md; docs/limitations.md.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Qualitative workflow problem only; do not quote invented time savings or prevalence. Ask: where can waiting time be used?</a:t>
            </a:r>
          </a:p>
          <a:p xmlns:a="http://schemas.openxmlformats.org/drawingml/2006/main">
            <a:r>
              <a:t>Source: docs/SIH_PRESENTATION.md.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one-off form with this connected workflow; do not assert every existing EHR lacks these features.</a:t>
            </a:r>
          </a:p>
          <a:p xmlns:a="http://schemas.openxmlformats.org/drawingml/2006/main">
            <a:r>
              <a:t>Source: docs/SIH_PRESENTATION.md.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Patient input moves through an authorized API into source-aware context; the doctor verifies. No autonomous clinical decisions.</a:t>
            </a:r>
          </a:p>
          <a:p xmlns:a="http://schemas.openxmlformats.org/drawingml/2006/main">
            <a:r>
              <a:t>Source: docs/architecture.md.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English/Hindi UI and bounded Hinglish normalization. Voice is optional; the default demo uses mock speech, so typed input is the reliable live path.</a:t>
            </a:r>
          </a:p>
          <a:p xmlns:a="http://schemas.openxmlformats.org/drawingml/2006/main">
            <a:r>
              <a:t>Source: docs/patient-flow.md; docs/multilingual.md; docs/voice.md.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Default NLU is rules; mock/local OCR; optional providers are bounded. SafetyEngine is not implemented.</a:t>
            </a:r>
          </a:p>
          <a:p xmlns:a="http://schemas.openxmlformats.org/drawingml/2006/main">
            <a:r>
              <a:t>Source: docs/ai-architecture.md; docs/document-ai.md; docs/safety.md.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authorized doctor route tree; evidence and verification history. Avoid measured efficiency claims.</a:t>
            </a:r>
          </a:p>
          <a:p xmlns:a="http://schemas.openxmlformats.org/drawingml/2006/main">
            <a:r>
              <a:t>Source: docs/doctor-workspace.md.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Combination of parts, not unsupported competitor superiority.</a:t>
            </a:r>
          </a:p>
          <a:p xmlns:a="http://schemas.openxmlformats.org/drawingml/2006/main">
            <a:r>
              <a:t>Source: docs/SIH_README.md.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diagnosis, prescription, treatment, emergency screening or all-clear. Priority review badge is operational, not clinical.</a:t>
            </a:r>
          </a:p>
          <a:p xmlns:a="http://schemas.openxmlformats.org/drawingml/2006/main">
            <a:r>
              <a:t>Source: docs/safety.md.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Next.js web deployment with patient/doctor route trees, not two independently deployed apps. HTTP polling, not WebSockets.</a:t>
            </a:r>
          </a:p>
          <a:p xmlns:a="http://schemas.openxmlformats.org/drawingml/2006/main">
            <a:r>
              <a:t>Source: docs/architecture.md.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English/Hindi active; bounded Hinglish. AYUSH data is captured without inferring biomedical equivalence.</a:t>
            </a:r>
          </a:p>
          <a:p xmlns:a="http://schemas.openxmlformats.org/drawingml/2006/main">
            <a:r>
              <a:t>Source: docs/multilingual.md; docs/ayush.md.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and images validated; mock or local OCR; conservative candidates. Scanned image-only PDFs and handwriting unsupported/unverified.</a:t>
            </a:r>
          </a:p>
          <a:p xmlns:a="http://schemas.openxmlformats.org/drawingml/2006/main">
            <a:r>
              <a:t>Source: docs/document-ai.md.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and What Changed are deterministic longitudinal organization, not clinical diagnosis. Brief is source-aware and reviewable.</a:t>
            </a:r>
          </a:p>
          <a:p xmlns:a="http://schemas.openxmlformats.org/drawingml/2006/main">
            <a:r>
              <a:t>Source: docs/timeline.md; docs/what-changed.md; docs/clinical-brief.md.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Backend-issued daily token; doctor transitions persist; screens poll roughly every eight seconds. A-001 is seeded Aarav only.</a:t>
            </a:r>
          </a:p>
          <a:p xmlns:a="http://schemas.openxmlformats.org/drawingml/2006/main">
            <a:r>
              <a:t>Source: docs/waiting-token.md.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signed proofs, role/object authorization, private file route, validation and audit. No certification or production IdP claim.</a:t>
            </a:r>
          </a:p>
          <a:p xmlns:a="http://schemas.openxmlformats.org/drawingml/2006/main">
            <a:r>
              <a:t>Source: docs/security.md.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Disclose any switch to preseeded Aarav. No live SafetyEngine. Follow docs/SIH_LIVE_DEMO_SCRIPT.md and failure plan.</a:t>
            </a:r>
          </a:p>
          <a:p xmlns:a="http://schemas.openxmlformats.org/drawingml/2006/main">
            <a:r>
              <a:t>Source: docs/SIH_LIVE_DEMO_SCRIPT.md.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Potential impact is unmeasured. No customers, accuracy, savings or production readiness claim.</a:t>
            </a:r>
          </a:p>
          <a:p xmlns:a="http://schemas.openxmlformats.org/drawingml/2006/main">
            <a:r>
              <a:t>Source: docs/roadmap.md; docs/limitations.md.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exactly: HELIOS does not replace the doctor. It gives the doctor a clearer story, before the consultation begins. Turn patient waiting time into clinical intelligence. Source: docs/SIH_README.md; docs/limitations.md.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81736c6ad43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62e21566cd41eb" /><Relationship Type="http://schemas.openxmlformats.org/officeDocument/2006/relationships/slideLayout" Target="/ppt/slideLayouts/slideLayout1.xml" Id="R71bf35834d9649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bf35834d96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0aa8bd9124926" /><Relationship Type="http://schemas.openxmlformats.org/officeDocument/2006/relationships/notesSlide" Target="/ppt/notesSlides/notesSlide1.xml" Id="R190aec19ba5546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5953d6bdd4526" /><Relationship Type="http://schemas.openxmlformats.org/officeDocument/2006/relationships/notesSlide" Target="/ppt/notesSlides/notesSlide2.xml" Id="Rc54ebed1ca004b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f2e32331c4fbc" /><Relationship Type="http://schemas.openxmlformats.org/officeDocument/2006/relationships/notesSlide" Target="/ppt/notesSlides/notesSlide3.xml" Id="R0a5acff9f1e041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a836eaa2c4f91" /><Relationship Type="http://schemas.openxmlformats.org/officeDocument/2006/relationships/notesSlide" Target="/ppt/notesSlides/notesSlide4.xml" Id="R9a31e033e81744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96b9e513e41c2" /><Relationship Type="http://schemas.openxmlformats.org/officeDocument/2006/relationships/notesSlide" Target="/ppt/notesSlides/notesSlide5.xml" Id="R2876905d149c40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66e636f0f49d0" /><Relationship Type="http://schemas.openxmlformats.org/officeDocument/2006/relationships/notesSlide" Target="/ppt/notesSlides/notesSlide6.xml" Id="R400b02c9fad34c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7970c7ce34fa6" /><Relationship Type="http://schemas.openxmlformats.org/officeDocument/2006/relationships/notesSlide" Target="/ppt/notesSlides/notesSlide7.xml" Id="R02bc1e30055249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7908985064d56" /><Relationship Type="http://schemas.openxmlformats.org/officeDocument/2006/relationships/notesSlide" Target="/ppt/notesSlides/notesSlide8.xml" Id="R113cd857e45f42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bc63b1f864249" /><Relationship Type="http://schemas.openxmlformats.org/officeDocument/2006/relationships/notesSlide" Target="/ppt/notesSlides/notesSlide9.xml" Id="R7ec6cf1d838246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8fc46426049f2" /><Relationship Type="http://schemas.openxmlformats.org/officeDocument/2006/relationships/notesSlide" Target="/ppt/notesSlides/notesSlide10.xml" Id="R676bca6d69a14b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92970318a4aca" /><Relationship Type="http://schemas.openxmlformats.org/officeDocument/2006/relationships/notesSlide" Target="/ppt/notesSlides/notesSlide11.xml" Id="R219acd7eed9c45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c2e0f963d4beb" /><Relationship Type="http://schemas.openxmlformats.org/officeDocument/2006/relationships/notesSlide" Target="/ppt/notesSlides/notesSlide12.xml" Id="R9c42608ee7a245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1b85e73fe4772" /><Relationship Type="http://schemas.openxmlformats.org/officeDocument/2006/relationships/notesSlide" Target="/ppt/notesSlides/notesSlide13.xml" Id="R73312c5b33b948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ac8d358744f9d" /><Relationship Type="http://schemas.openxmlformats.org/officeDocument/2006/relationships/notesSlide" Target="/ppt/notesSlides/notesSlide14.xml" Id="R950ac974732e47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613d33c03460c" /><Relationship Type="http://schemas.openxmlformats.org/officeDocument/2006/relationships/notesSlide" Target="/ppt/notesSlides/notesSlide15.xml" Id="Radc8b11e3a5146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27b1a2f5f4ae7" /><Relationship Type="http://schemas.openxmlformats.org/officeDocument/2006/relationships/notesSlide" Target="/ppt/notesSlides/notesSlide16.xml" Id="R1e4d6bd14a2e40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a2b133c514b60" /><Relationship Type="http://schemas.openxmlformats.org/officeDocument/2006/relationships/notesSlide" Target="/ppt/notesSlides/notesSlide17.xml" Id="Rc36ddf633c0b48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ea82c405e4571" /><Relationship Type="http://schemas.openxmlformats.org/officeDocument/2006/relationships/notesSlide" Target="/ppt/notesSlides/notesSlide18.xml" Id="R6a877b12bfb54e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1912-CF95-4A1C-ADDC-6A1A073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DE2BC-B5BA-4627-91FC-C37F9A2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HELIOS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5B880-306E-4751-9019-87B5E8BF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5F8F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E5F8F4"/>
                </a:solidFill>
                <a:latin typeface="Arial"/>
                <a:ea typeface="Arial"/>
                <a:cs typeface="Arial"/>
              </a:rPr>
              <a:t>Turn patient waiting time into clinical intelligence.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6A7B3-10FB-439D-908D-E9FE65C1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D0878-6C15-4EDE-8BC3-52388C89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EC9D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C9D3"/>
                </a:solidFill>
                <a:latin typeface="Arial"/>
                <a:ea typeface="Arial"/>
                <a:cs typeface="Arial"/>
              </a:rPr>
              <a:t>SIH  ·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661285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A384B-AC9F-4585-AEB0-43EA2BD4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138B5-C7F8-44F6-AD71-AD5DD69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story arrives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EAD05-389E-4D4A-8D4F-1DE5A668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E109B-12ED-4D92-AA72-32BF12F7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1168F-09C6-4430-9472-0EC42D84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762DF-8EF1-4A35-9604-7F93E19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645D1-31DB-4A6F-8768-34EEE80B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FDF37-889C-41CE-95EC-1C47D62F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Waiting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E3773-5D01-4F90-92C1-D20FF6E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The patient is available before the consultation.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CE30F-B7A6-4313-9008-75B5F627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4771C-BF4E-4B2E-88DD-CED2EC84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BFAA3-2E62-448F-BE8D-F381DB67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Scattered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F8ADB-3136-4851-A408-AC568FEC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Symptoms, old reports, dates and medicines sit apart.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817E8-E21C-4371-9BD7-16FAAA3F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FFEF0-FC9A-4A7E-BDC5-93FCD781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F742B-1974-4BAE-AD8D-DA43FCEA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Language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EB76A-0239-4B2C-9305-14AA9A7D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Natural wording can be hard to capture in fixed fields.</a:t>
            </a:r>
          </a:p>
        </p:txBody>
      </p:sp>
    </p:spTree>
    <p:extLst>
      <p:ext uri="{BB962C8B-B14F-4D97-AF65-F5344CB8AC3E}">
        <p14:creationId xmlns:p14="http://schemas.microsoft.com/office/powerpoint/2010/main" val="1450514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37287-F354-4FA1-A474-C800F36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BEC59-0DC8-444E-8BA1-0DFAFF38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Forms collect answers. Clinicians need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E0B26-3CBC-43AE-8A9A-0D42E65D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80AD7-D754-4DB7-9EF2-B864A7B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E5F20-BCA7-4360-A59C-6182EEFB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7DB91-76D7-4E4D-ACD9-3B75B15D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245E4-7EB2-49A6-BCD7-EF30159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72245-DFB1-4B7A-BF43-90E75A5C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encounter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57621-DFC0-4EF7-AB3A-91A01FC4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 field captures today, not the trajectory.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92A61-C766-4348-8E01-12D7D6C2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DF16F-C7AB-4433-A15B-D1C62EE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27ACB-BED5-4EB2-99E7-B4FDADE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44307-0391-45B1-838F-1E71177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 document candidate needs its source and review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85E54-7CC1-448B-94F7-F71F156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BE75D-FA1C-4089-A85C-BD76D82B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EB512-08A8-44D8-99B5-E7643551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Change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F1685-3E9C-49AA-8DE9-9453D34E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Prior versus current should be visible to the doctor.</a:t>
            </a:r>
          </a:p>
        </p:txBody>
      </p:sp>
    </p:spTree>
    <p:extLst>
      <p:ext uri="{BB962C8B-B14F-4D97-AF65-F5344CB8AC3E}">
        <p14:creationId xmlns:p14="http://schemas.microsoft.com/office/powerpoint/2010/main" val="300870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E5F18-6475-45BC-8A1B-E993F79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64D4F-378E-4E17-9DA0-E32A3017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Intake becomes a doctor-ready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38EFE-F8A7-47EE-90AF-DE7FB581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7BD85-9998-4088-86D4-BA62F26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60D6B-81B5-439F-8B30-0DC18B76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3EF2D-EC9C-4112-8850-9D5BDA30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81055-5C90-4E0F-BE1F-44185CF8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1EF61-1C89-4080-A3BE-9A2C1826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B182B-0794-41A7-B4F9-552653E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C4537-0315-4FEC-A500-215DC675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Source-labelled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AC2A1-F944-4D0C-BD0A-4AEBD07F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BCA64-5930-428A-B836-3116FE1A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7D005-1C8B-41C9-8FC2-9BC2CC8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Timeline + 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A02C9-7C77-4BA8-8358-3EB2ECF1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295F1-A7E8-453E-BB0E-CC6F4FD2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E4D0D-428C-4D2E-AF2D-AA5B5E03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A1CC2-CCD2-418B-AC5B-C90F1C85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The doctor remains the final clinical decision-maker.</a:t>
            </a:r>
          </a:p>
        </p:txBody>
      </p:sp>
    </p:spTree>
    <p:extLst>
      <p:ext uri="{BB962C8B-B14F-4D97-AF65-F5344CB8AC3E}">
        <p14:creationId xmlns:p14="http://schemas.microsoft.com/office/powerpoint/2010/main" val="379132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B9102-A141-4758-93CF-A4181369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3D251-2B54-45F0-8F46-4C7BC70C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patient speaks naturally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702DD-3C50-41F1-A929-92FC5A70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2CCDE-BBD6-42ED-B87F-B81A82B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7336F-8DD8-4BFE-BB84-4201EE85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B979E-0B7A-4127-BC5A-8371EAA1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FF8A2-BCB8-4F0B-AB22-12E249E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AD293-F70F-4A74-BAD5-011C144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  Consent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8AAFD-D174-4FFC-A601-67C99C91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Choose English or Hindi before clinical capture.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97D7C-F4B5-41DC-9299-E889F58D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05DCB-8DBB-4398-A864-1F48B7D5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1DBBC-AAE7-474F-8417-20992C15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  Describe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49E15-51FD-43E5-B3D5-B373351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Speak or type; answer adaptive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6795C-D2E4-406E-8485-FFE1C593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03A50-ABB6-4EAE-81E3-0D73A640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19E69-A5FE-408E-8327-2AD17822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1FAC9-F7F1-43FB-8DF0-5919BD39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Check document candidates, submit and receive a token.</a:t>
            </a:r>
          </a:p>
        </p:txBody>
      </p:sp>
    </p:spTree>
    <p:extLst>
      <p:ext uri="{BB962C8B-B14F-4D97-AF65-F5344CB8AC3E}">
        <p14:creationId xmlns:p14="http://schemas.microsoft.com/office/powerpoint/2010/main" val="1196242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BE074-C42F-41AB-9290-2D9F4FB1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3EC82-610D-4D0B-861D-EBB007A0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transparent processing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C1250-AAA5-450B-A942-75676052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2CC41-4E18-4B3E-82EE-8BD64086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1D35C-6413-4B81-90E4-6EA3983E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7DA6D-0C40-4C2E-8072-211E7E8E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2EC41-CA22-4629-9701-39D731E1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Confirmed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6986F-09EC-422E-8C46-B6288619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08825-66CE-4C90-920A-76835A01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689DD-D853-4975-B377-ED6F0358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Interview +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E88A1-D0C4-4D9E-8159-0571AF33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CE146-D04E-4F34-BDE5-4B38AC93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54188-C04A-4DD9-A4B3-EC4C831F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6221A-A431-4564-A135-FF9C711A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9C63A-3709-4429-8DCB-39340551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B5EF8-64CE-4CC9-92D0-402A1150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Comparison +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7B63B-0408-408D-9E67-314EADD4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C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C96"/>
                </a:solidFill>
                <a:latin typeface="Arial"/>
                <a:ea typeface="Arial"/>
                <a:cs typeface="Arial"/>
              </a:rPr>
              <a:t>AI adapters assist  ·  Deterministic services govern  ·  Doctor verifies</a:t>
            </a:r>
          </a:p>
        </p:txBody>
      </p:sp>
    </p:spTree>
    <p:extLst>
      <p:ext uri="{BB962C8B-B14F-4D97-AF65-F5344CB8AC3E}">
        <p14:creationId xmlns:p14="http://schemas.microsoft.com/office/powerpoint/2010/main" val="37829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8602A-4883-40A4-9884-F3A3130F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76CE1-136E-4556-BB7E-6F7F26E9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doctor sees the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8AE0D-BC42-4A75-9923-B0A93CE9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2FF79-34EB-4C6A-BA10-C017EA7C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4CE0A-BA14-4254-A6AE-FBF3B628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A35D8-E72A-4819-8ADB-3C4DF87D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35C1E-40E7-4E91-803F-BD42DF43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3E846-E397-47C5-BB95-CC9467C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6354A-9E18-4EA4-BFC1-4084D31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Call, start and complete from persisted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99197-2654-4F4B-BB0E-8BFB2811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F0263-E13E-4475-8CF4-6F7EFE5B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4618A-8BC6-453F-928E-5B380FB4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6DBCD-2FDC-4AF8-96D2-90DCAC93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Brief, What Changed, timeline and document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85244-6AFC-4E3C-9E4F-20A2815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E6335-6B07-497D-8E01-778B981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5A517-36A9-4B6A-A496-62E58670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56EBE-42F2-4550-A558-79A1AF66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Verify, correct, reject or mark uncertain.</a:t>
            </a:r>
          </a:p>
        </p:txBody>
      </p:sp>
    </p:spTree>
    <p:extLst>
      <p:ext uri="{BB962C8B-B14F-4D97-AF65-F5344CB8AC3E}">
        <p14:creationId xmlns:p14="http://schemas.microsoft.com/office/powerpoint/2010/main" val="1364417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239B1-F8EA-4FCF-843C-F1A70AD3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5030-671F-48E1-BBE0-B709F062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Innovation is the connected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CC33C-24A9-4554-8943-31A5BD74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94126-BB35-4103-939F-0089D39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1442E-5E91-4356-8D46-01458142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27106-94BA-4BA8-B380-25988991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DD3BE-2290-4073-AFBA-9CF69821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1312F-FF08-435E-B3CB-3B282FA5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visit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FE873-8E80-47D2-97AB-4A9173FC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Multilingual consented intake + real token.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84EC6-E7E2-4CBF-9F5F-003ADF89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C694C-1BD4-4D02-96DE-0550E1CF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0F87F-3944-483D-9A14-F56AD0EE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visits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27DC3-C25A-4189-9459-C163EFEE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Evidence-linked timeline and comparison.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C306A-A064-4C8C-BB99-F4953ACF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5D4F4-DC25-4871-93EE-FAD254BC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52791-D0A6-4ADD-9E73-3C6D9CF8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At the doctor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3AEC9-06BE-4DAE-BB2A-3BED5C7F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Concise brief plus explicit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071910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EAD70-B531-45FE-A712-59F2136E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88080-2713-420F-9DDB-5AD3A44A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Clinical authority stays with the doctor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0A270-FE40-422F-B22A-3B04779B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B54B7-CBF0-4F73-B3E4-AAEB5B42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ADEDC-D8CB-40F8-94EB-47F247EA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0D16B-35C5-4D37-AA92-D571177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292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C036E-CE13-435E-AD0B-B42A060F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ADEEF-143E-4FC6-B838-AADC1084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57425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C35D0-FE7C-4051-B050-CB36316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Source provenance, uncertainty, doctor verification and controlled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A5A21-695E-418A-879A-A04A547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5448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57FB2-F366-4C96-A0F0-096AECB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C8887-5D03-4982-BCD5-EA27591E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5742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— not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F2A7F-B936-4057-9C82-3821BC02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Clinician-approved, versioned SafetyEngine with testing and governance.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EF63A-5C74-4ED6-B5EE-58CE2B86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35C5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5C59"/>
                </a:solidFill>
                <a:latin typeface="Arial"/>
                <a:ea typeface="Arial"/>
                <a:cs typeface="Arial"/>
              </a:rPr>
              <a:t>No automated clinical safety signal is claimed.</a:t>
            </a:r>
          </a:p>
        </p:txBody>
      </p:sp>
    </p:spTree>
    <p:extLst>
      <p:ext uri="{BB962C8B-B14F-4D97-AF65-F5344CB8AC3E}">
        <p14:creationId xmlns:p14="http://schemas.microsoft.com/office/powerpoint/2010/main" val="1403338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35DA4-8A68-4D68-A3FE-EB6B1FC9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DBC48-E640-40F1-8C80-6332A5A1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backend. Two protected experiences.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8923-A401-4DC0-9ABB-31AA7BC4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31262-103B-48AB-B43A-0D647314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B4D3D-CCCA-4DDE-A21D-CAA549AA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FA23A-3217-4EB6-B64F-6228BF1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9229F-5C9F-4DDB-ACF5-AF892F91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0C6F8-C2AF-45E8-82F5-8B400314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5D568-679F-4A60-B931-33A1A6CC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24125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D61F7-75D5-4485-8CCF-5074EEF2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47975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35DB5-152C-4DC7-B4F1-A2253035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8F7DE-ABD4-44B4-98A6-24841DFC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24125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7455D-9965-4DFB-AE41-3D5B2BF2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47975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Prisma + 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B96D2-CADD-48B0-BE09-257F7DDD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83F9D-3FF2-434D-A17B-A4E9D526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24125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ED988-7E63-4E2B-B3E0-60E4DAE1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47975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0B633-4A88-49A0-A901-DB50F20D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Private local storage + optional provider adapters sit behind the API.</a:t>
            </a:r>
          </a:p>
        </p:txBody>
      </p:sp>
    </p:spTree>
    <p:extLst>
      <p:ext uri="{BB962C8B-B14F-4D97-AF65-F5344CB8AC3E}">
        <p14:creationId xmlns:p14="http://schemas.microsoft.com/office/powerpoint/2010/main" val="7801073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1AE7A-0AE4-4E74-A81C-0DEBA563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6BBE6-3B93-4735-9C6C-C98972BE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Language and AYUSH stay source-aware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4275B-930C-4F08-AEA6-3EF95142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E549E-8589-4D5A-8546-DC2F413D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EEB86-6616-438D-9345-D2C241C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9068B-2658-4539-BB60-C3AAE889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EAC71-BF2F-4F77-AC78-9174C615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9167F-4080-41DA-8777-54B3BC0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English + Hindi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B4A0E-1A0E-44E3-990C-0427B2B0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Patient-facing UI and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86073-A9CC-4E2E-BB3C-136FB644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7D147-C3E8-4018-B638-EB262A7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225FF-1CFE-4D4E-865C-AB230C3E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Original wording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42565-46A5-4BCD-BD07-E01D4679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Preserved beside normalized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0C140-CFDE-4043-84A9-27FEDD6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FFCE1-26FA-4404-9C76-B4CDE67E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41C98-F3C0-42DA-A725-4BC361BA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AYUSH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8E06A-31E3-4F03-A1DA-39F4D799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System, treatment, timing and evidence in the record.</a:t>
            </a:r>
          </a:p>
        </p:txBody>
      </p:sp>
    </p:spTree>
    <p:extLst>
      <p:ext uri="{BB962C8B-B14F-4D97-AF65-F5344CB8AC3E}">
        <p14:creationId xmlns:p14="http://schemas.microsoft.com/office/powerpoint/2010/main" val="1620219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18FD8-F2EB-489C-8611-35D5CFC1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7243E-381E-4A07-8C5A-7422E4B6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Documents add evidence, not automatic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57D18-D983-4C30-B2E6-10769D0F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64512-D937-49AA-A1BA-DF4C03EB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147CF-0C26-4523-B65D-55DF4CFF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137FF-F086-4177-BEB3-C69D3401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89E52-68AB-4CFC-B933-05C9C029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Validated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A020C-903B-41DB-B24B-68583A83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27689-DFE4-4CD1-B620-687482EA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8B375-6F5F-4DD0-B5E7-ACC8B6C0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Mock/local OCR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42EE1-2DA9-4197-BD0C-48E9CECF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F63BE-7751-45B8-8BE3-0B1140C4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52D43-524A-4EB9-B0C0-E55CAE0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Page-linked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A1040-8F47-419E-9E7D-B23A63A2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0E476-EE2B-4785-8560-2322FEA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2B51B-66B9-41C5-B5A6-6B3A35AE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+ doctor review</a:t>
            </a:r>
          </a:p>
        </p:txBody>
      </p:sp>
    </p:spTree>
    <p:extLst>
      <p:ext uri="{BB962C8B-B14F-4D97-AF65-F5344CB8AC3E}">
        <p14:creationId xmlns:p14="http://schemas.microsoft.com/office/powerpoint/2010/main" val="17525374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5E22C-1A79-41F7-BA72-29A92CB9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B9C3A-FA74-4F93-B6EE-8798085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→ current → difference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98D2F-9D14-45EF-9B52-4B10A061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EEBB4-8358-4465-9AC6-BA342A28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16206-9AE1-48BC-941A-BB0255E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A4664-CACD-4C94-842B-6F77630F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0813E-A550-4824-9769-71547FBD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1B927-E4D8-4DBE-8EF6-965D4181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2B506-1EA2-4A65-B326-467BB05B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Source-labelled events across visits.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687AB-0795-409D-9144-940B9C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2465F-F274-4B3C-8AA8-739EE326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B4D09-7A1D-4F19-9C80-9261C89E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6F413-1746-49F0-8C5F-5B02635B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Snapshot comparison highlights differences.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20320-2CF2-46AC-8542-98ED1A03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ADFA7-3834-456D-8B03-CD23225A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5E8F9-0FE9-43BF-8D5F-24177825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Clinical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F9CA2-AFB8-437D-B6A7-654D28EA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Short, versioned context for doctor review.</a:t>
            </a:r>
          </a:p>
        </p:txBody>
      </p:sp>
    </p:spTree>
    <p:extLst>
      <p:ext uri="{BB962C8B-B14F-4D97-AF65-F5344CB8AC3E}">
        <p14:creationId xmlns:p14="http://schemas.microsoft.com/office/powerpoint/2010/main" val="1940856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91BEC-74BB-42DA-BA51-9068CB6D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A71DD-E4FF-4FEE-A7A6-36FCCB32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queue makes intake operational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90E88-44BC-43CE-ABBE-9A2B6B44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6B5F8-5AD3-47D6-BEB5-198E50F5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625BE-89FA-4F5D-A03B-9DE79ED2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85995-99F2-448A-BF0F-2C774004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597CC-0856-4325-85A7-2FCEF666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Submit + check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B8D52-2AFE-4DA8-A6BE-A4B91BE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0898B-21A9-456F-88E1-0020543D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9DB18-59A4-4ADD-8BFD-4589FF24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Daily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9E258-AD0F-408F-B4BF-D3EB39B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8D3DB-8A9D-44B5-B341-C5F2C99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BC786-5804-403E-9BFE-93381FD0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A340C-56A5-4E5A-B9EE-E5141095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04754-5CDA-4FF9-BAEF-80A894CC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4F731-D932-4C3D-8E65-AA1BFD30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sees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10F34-1439-4BE4-9D3A-832CD986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35C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5C59"/>
                </a:solidFill>
                <a:latin typeface="Arial"/>
                <a:ea typeface="Arial"/>
                <a:cs typeface="Arial"/>
              </a:rPr>
              <a:t>Queue priority is not a clinical risk signal.</a:t>
            </a:r>
          </a:p>
        </p:txBody>
      </p:sp>
    </p:spTree>
    <p:extLst>
      <p:ext uri="{BB962C8B-B14F-4D97-AF65-F5344CB8AC3E}">
        <p14:creationId xmlns:p14="http://schemas.microsoft.com/office/powerpoint/2010/main" val="695847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11876-66BC-4812-9BAA-5B474922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5BC0A-82D8-4B17-87C0-FC7D4DE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Access is checked at the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B9D97-320B-4CA2-A899-50E2849A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34F09-C8BF-46EB-8CCB-37E42CDD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1D024-B322-43EF-BDC0-855A50FD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CF9B9-91E9-4FAA-9B45-E9E1D277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F161D-DD0C-43C3-9694-9DCE6A90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28E64-EB33-47C2-8001-C52E0C36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C5FF7-1EDA-4D06-9BF1-6DB116CD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Ownership checked on every patient object.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EB0C4-5336-49D8-9ACC-2478C9AB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F64E3-D3D4-4D71-8472-A271039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BA7D5-BEB9-4033-9966-909CF3DA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27CA0-04FF-4678-99A9-8E210F6C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Role/assignment checks gate workspace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C0419-B803-4504-B107-5455A340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DA83A-33AD-4890-B23B-CA3A1EC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07DE0-0436-4757-8B6F-60629F08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Demo guard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4FC42-305D-428B-BCC5-7FF3D258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Reset restricted to local synthetic database.</a:t>
            </a:r>
          </a:p>
        </p:txBody>
      </p:sp>
    </p:spTree>
    <p:extLst>
      <p:ext uri="{BB962C8B-B14F-4D97-AF65-F5344CB8AC3E}">
        <p14:creationId xmlns:p14="http://schemas.microsoft.com/office/powerpoint/2010/main" val="11158775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15D71-FC71-422E-9C58-61611CE6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9CC80-E68B-4D40-B89F-AE07C3F3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Live demo: follow one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915A2-B812-45EF-84CE-33B947B8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2D1E3-ACE8-4F6C-9A76-C3D40515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E4F01-2FAC-41EF-BFC0-7558F1FF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A4B8B-19D4-4E05-A794-2E057D22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3CA55-4F6A-4470-8E4D-18568A08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Hindi + typed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DEF31-9D9A-4AF7-9227-7CAD1795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ABEF7-0FCB-4FE8-811C-4B22D376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94F37-82CF-453D-B7DF-3D0CBB55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Questions +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6D89B-8828-4B8B-BC8F-B73218A2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9F178-4165-494F-8406-1CB90964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29330-9CF5-4FC6-A181-15B8D704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11655-AE31-4461-8D97-C9FBE7F2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EE5FD-0599-4820-A66C-9998E598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B4832-6A47-4372-8F74-ACBF08AC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4C4FF-6FF1-404E-AB4B-B152ECB2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Synthetic data  ·  Backend state  · 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7891212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C4311-A864-4B2F-9475-C0BF1970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2A520-FE6D-4B98-92CA-E91C734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Now is a prototype. Next is clinical readiness.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CA6C8-3E95-4FA0-AF60-94D79993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0F2E7-0032-4AC8-AC56-06D116B0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A8690-91DD-4A30-87BB-15D52D90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42E0E-B2C3-4206-ABD4-925A3722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0292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4D94C-78BA-4195-AD4C-C884E1A5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62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4FF60-348B-437D-B636-197FC6FB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IMPLEMENTED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CAE03-AE9E-4AE6-9CF4-E3F6776E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5339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Intake, provenance, timeline, comparison, brief, queue, verification and guarded synthetic demo.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2F68A-89E6-4D6E-AA93-B7F23CE4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54483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76960-63DC-4883-8D5D-0148DDB1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762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CDC9C-7888-413F-872F-6975EAA7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64232-E1FE-4611-9B83-09337C3D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Clinical SafetyEngine; production identity and retention; provider and full-browser clinical evaluation.</a:t>
            </a:r>
          </a:p>
        </p:txBody>
      </p:sp>
    </p:spTree>
    <p:extLst>
      <p:ext uri="{BB962C8B-B14F-4D97-AF65-F5344CB8AC3E}">
        <p14:creationId xmlns:p14="http://schemas.microsoft.com/office/powerpoint/2010/main" val="2575549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F39D1-68D2-4A10-B26D-7FE91C3F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67DC8-5FF7-4CA2-8FE8-B34961B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A clearer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EF8DE-1B84-409F-AE5B-78B9AC3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D8F3E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D8F3EF"/>
                </a:solidFill>
                <a:latin typeface="Arial"/>
                <a:ea typeface="Arial"/>
                <a:cs typeface="Arial"/>
              </a:rPr>
              <a:t>before the consultation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7F6F1-827C-4598-AC9A-037D5E97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7EFA0-2EFE-4CDB-BEE0-531F2A0A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HELIOS does not replace the doctor.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42C19-DD91-48CF-AA24-B16B5820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DD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DDE0"/>
                </a:solidFill>
                <a:latin typeface="Arial"/>
                <a:ea typeface="Arial"/>
                <a:cs typeface="Arial"/>
              </a:rPr>
              <a:t>Turn patient waiting time into clinical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312207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2026-09-14T20:40:00.6600000Z</dcterms:created>
  <dcterms:modified xsi:type="dcterms:W3CDTF">2026-09-14T20:40:00.6600000Z</dcterms:modified>
</coreProperties>
</file>