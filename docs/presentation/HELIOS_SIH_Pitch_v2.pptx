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00c543f2b247d2" /><Relationship Type="http://schemas.openxmlformats.org/officeDocument/2006/relationships/extended-properties" Target="/docProps/app.xml" Id="Rfb8a66b4629d45ff" /><Relationship Type="http://schemas.openxmlformats.org/officeDocument/2006/relationships/officeDocument" Target="/ppt/presentation.xml" Id="R66d136ce0f684c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17d713db794f5f"/>
  </p:sldMasterIdLst>
  <p:notesMasterIdLst>
    <p:notesMasterId xmlns:r="http://schemas.openxmlformats.org/officeDocument/2006/relationships" r:id="R913b366b4f8b490c"/>
  </p:notesMasterIdLst>
  <p:sldIdLst>
    <p:sldId xmlns:r="http://schemas.openxmlformats.org/officeDocument/2006/relationships" id="256" r:id="Rbca231c25e2a477d"/>
    <p:sldId xmlns:r="http://schemas.openxmlformats.org/officeDocument/2006/relationships" id="257" r:id="Re7e18833444d4e81"/>
    <p:sldId xmlns:r="http://schemas.openxmlformats.org/officeDocument/2006/relationships" id="258" r:id="Rc9d3e88f43564a25"/>
    <p:sldId xmlns:r="http://schemas.openxmlformats.org/officeDocument/2006/relationships" id="259" r:id="R2f631be9fbde420e"/>
    <p:sldId xmlns:r="http://schemas.openxmlformats.org/officeDocument/2006/relationships" id="260" r:id="Ra78a78222d3140c3"/>
    <p:sldId xmlns:r="http://schemas.openxmlformats.org/officeDocument/2006/relationships" id="261" r:id="R9192f03caf5a4bd6"/>
    <p:sldId xmlns:r="http://schemas.openxmlformats.org/officeDocument/2006/relationships" id="262" r:id="Rab339a81238046c2"/>
    <p:sldId xmlns:r="http://schemas.openxmlformats.org/officeDocument/2006/relationships" id="263" r:id="Rc22c62dcd5c443ad"/>
    <p:sldId xmlns:r="http://schemas.openxmlformats.org/officeDocument/2006/relationships" id="264" r:id="Raafed4816481432e"/>
    <p:sldId xmlns:r="http://schemas.openxmlformats.org/officeDocument/2006/relationships" id="265" r:id="R509db58da2da4641"/>
    <p:sldId xmlns:r="http://schemas.openxmlformats.org/officeDocument/2006/relationships" id="266" r:id="R42322f70c3654363"/>
    <p:sldId xmlns:r="http://schemas.openxmlformats.org/officeDocument/2006/relationships" id="267" r:id="Rd6194433bcdd46c6"/>
    <p:sldId xmlns:r="http://schemas.openxmlformats.org/officeDocument/2006/relationships" id="268" r:id="R8ada65b957ed4a53"/>
    <p:sldId xmlns:r="http://schemas.openxmlformats.org/officeDocument/2006/relationships" id="269" r:id="Rd0fe0a2dd4f04c13"/>
    <p:sldId xmlns:r="http://schemas.openxmlformats.org/officeDocument/2006/relationships" id="270" r:id="R73cdfcdcb46141a1"/>
    <p:sldId xmlns:r="http://schemas.openxmlformats.org/officeDocument/2006/relationships" id="271" r:id="Re523aa1d6b624dc6"/>
    <p:sldId xmlns:r="http://schemas.openxmlformats.org/officeDocument/2006/relationships" id="272" r:id="R6f9c8a60a99b4097"/>
    <p:sldId xmlns:r="http://schemas.openxmlformats.org/officeDocument/2006/relationships" id="273" r:id="Re509c0fc82ed42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a6ebe6034845f8" /><Relationship Type="http://schemas.openxmlformats.org/officeDocument/2006/relationships/slideMaster" Target="/ppt/slideMasters/slideMaster1.xml" Id="R8717d713db794f5f" /><Relationship Type="http://schemas.openxmlformats.org/officeDocument/2006/relationships/notesMaster" Target="/ppt/notesMasters/notesMaster1.xml" Id="R913b366b4f8b490c" /><Relationship Type="http://schemas.openxmlformats.org/officeDocument/2006/relationships/presProps" Target="/ppt/presProps.xml" Id="Rd9b3f132a5fc4d42" /><Relationship Type="http://schemas.openxmlformats.org/officeDocument/2006/relationships/tableStyles" Target="/ppt/tableStyles.xml" Id="Rfd0e1231259e48bd" /><Relationship Type="http://schemas.openxmlformats.org/officeDocument/2006/relationships/slide" Target="/ppt/slides/slide1.xml" Id="Rbca231c25e2a477d" /><Relationship Type="http://schemas.openxmlformats.org/officeDocument/2006/relationships/slide" Target="/ppt/slides/slide2.xml" Id="Re7e18833444d4e81" /><Relationship Type="http://schemas.openxmlformats.org/officeDocument/2006/relationships/slide" Target="/ppt/slides/slide3.xml" Id="Rc9d3e88f43564a25" /><Relationship Type="http://schemas.openxmlformats.org/officeDocument/2006/relationships/slide" Target="/ppt/slides/slide4.xml" Id="R2f631be9fbde420e" /><Relationship Type="http://schemas.openxmlformats.org/officeDocument/2006/relationships/slide" Target="/ppt/slides/slide5.xml" Id="Ra78a78222d3140c3" /><Relationship Type="http://schemas.openxmlformats.org/officeDocument/2006/relationships/slide" Target="/ppt/slides/slide6.xml" Id="R9192f03caf5a4bd6" /><Relationship Type="http://schemas.openxmlformats.org/officeDocument/2006/relationships/slide" Target="/ppt/slides/slide7.xml" Id="Rab339a81238046c2" /><Relationship Type="http://schemas.openxmlformats.org/officeDocument/2006/relationships/slide" Target="/ppt/slides/slide8.xml" Id="Rc22c62dcd5c443ad" /><Relationship Type="http://schemas.openxmlformats.org/officeDocument/2006/relationships/slide" Target="/ppt/slides/slide9.xml" Id="Raafed4816481432e" /><Relationship Type="http://schemas.openxmlformats.org/officeDocument/2006/relationships/slide" Target="/ppt/slides/slide10.xml" Id="R509db58da2da4641" /><Relationship Type="http://schemas.openxmlformats.org/officeDocument/2006/relationships/slide" Target="/ppt/slides/slide11.xml" Id="R42322f70c3654363" /><Relationship Type="http://schemas.openxmlformats.org/officeDocument/2006/relationships/slide" Target="/ppt/slides/slide12.xml" Id="Rd6194433bcdd46c6" /><Relationship Type="http://schemas.openxmlformats.org/officeDocument/2006/relationships/slide" Target="/ppt/slides/slide13.xml" Id="R8ada65b957ed4a53" /><Relationship Type="http://schemas.openxmlformats.org/officeDocument/2006/relationships/slide" Target="/ppt/slides/slide14.xml" Id="Rd0fe0a2dd4f04c13" /><Relationship Type="http://schemas.openxmlformats.org/officeDocument/2006/relationships/slide" Target="/ppt/slides/slide15.xml" Id="R73cdfcdcb46141a1" /><Relationship Type="http://schemas.openxmlformats.org/officeDocument/2006/relationships/slide" Target="/ppt/slides/slide16.xml" Id="Re523aa1d6b624dc6" /><Relationship Type="http://schemas.openxmlformats.org/officeDocument/2006/relationships/slide" Target="/ppt/slides/slide17.xml" Id="R6f9c8a60a99b4097" /><Relationship Type="http://schemas.openxmlformats.org/officeDocument/2006/relationships/slide" Target="/ppt/slides/slide18.xml" Id="Re509c0fc82ed42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965134911f4b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20ef709e264420" /><Relationship Type="http://schemas.openxmlformats.org/officeDocument/2006/relationships/notesMaster" Target="/ppt/notesMasters/notesMaster1.xml" Id="Rad6926018bc448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d120352e894df4" /><Relationship Type="http://schemas.openxmlformats.org/officeDocument/2006/relationships/notesMaster" Target="/ppt/notesMasters/notesMaster1.xml" Id="R30570b88211a4f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28aef95f984954" /><Relationship Type="http://schemas.openxmlformats.org/officeDocument/2006/relationships/notesMaster" Target="/ppt/notesMasters/notesMaster1.xml" Id="Rca8814f9808e48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31e603773f41e5" /><Relationship Type="http://schemas.openxmlformats.org/officeDocument/2006/relationships/notesMaster" Target="/ppt/notesMasters/notesMaster1.xml" Id="Rcb74568a4abb4d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2decfbdf7846de" /><Relationship Type="http://schemas.openxmlformats.org/officeDocument/2006/relationships/notesMaster" Target="/ppt/notesMasters/notesMaster1.xml" Id="R0f1146aefd014a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fdbf315de94112" /><Relationship Type="http://schemas.openxmlformats.org/officeDocument/2006/relationships/notesMaster" Target="/ppt/notesMasters/notesMaster1.xml" Id="Rd4f9f3406f9a4a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0e4ef34c9d4de1" /><Relationship Type="http://schemas.openxmlformats.org/officeDocument/2006/relationships/notesMaster" Target="/ppt/notesMasters/notesMaster1.xml" Id="R0189285a5b4a40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121022b8774397" /><Relationship Type="http://schemas.openxmlformats.org/officeDocument/2006/relationships/notesMaster" Target="/ppt/notesMasters/notesMaster1.xml" Id="Raf137254425143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71c1c0156a453d" /><Relationship Type="http://schemas.openxmlformats.org/officeDocument/2006/relationships/notesMaster" Target="/ppt/notesMasters/notesMaster1.xml" Id="Ra6babf4d563d43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463f7904164c46" /><Relationship Type="http://schemas.openxmlformats.org/officeDocument/2006/relationships/notesMaster" Target="/ppt/notesMasters/notesMaster1.xml" Id="Rd9d4f900fa0d42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bec4ab8e8e4521" /><Relationship Type="http://schemas.openxmlformats.org/officeDocument/2006/relationships/notesMaster" Target="/ppt/notesMasters/notesMaster1.xml" Id="Rdc3b9c126c0a45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29f616beb84df9" /><Relationship Type="http://schemas.openxmlformats.org/officeDocument/2006/relationships/notesMaster" Target="/ppt/notesMasters/notesMaster1.xml" Id="R0d7a928a2b454ef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b81ed641e344a3" /><Relationship Type="http://schemas.openxmlformats.org/officeDocument/2006/relationships/notesMaster" Target="/ppt/notesMasters/notesMaster1.xml" Id="R3e23176ea6bf4d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eaf1c5f7b0b4144" /><Relationship Type="http://schemas.openxmlformats.org/officeDocument/2006/relationships/notesMaster" Target="/ppt/notesMasters/notesMaster1.xml" Id="R05df61095a0d4ee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f247cbdea424f05" /><Relationship Type="http://schemas.openxmlformats.org/officeDocument/2006/relationships/notesMaster" Target="/ppt/notesMasters/notesMaster1.xml" Id="R82dcf392250f45c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b6b38db1e8d471a" /><Relationship Type="http://schemas.openxmlformats.org/officeDocument/2006/relationships/notesMaster" Target="/ppt/notesMasters/notesMaster1.xml" Id="R7d5f7dfb57f2497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55ea785180f4d66" /><Relationship Type="http://schemas.openxmlformats.org/officeDocument/2006/relationships/notesMaster" Target="/ppt/notesMasters/notesMaster1.xml" Id="R815d3e966d7746e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7d6d0da7bb745b4" /><Relationship Type="http://schemas.openxmlformats.org/officeDocument/2006/relationships/notesMaster" Target="/ppt/notesMasters/notesMaster1.xml" Id="R17433529b15443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HELIOS is consented pre-consultation preparation. Never say AI doctor, diagnosis, or deployment. Source: docs/SIH_README.md; docs/limitations.md.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Qualitative workflow problem only; do not quote invented time savings or prevalence. Ask: where can waiting time be used?</a:t>
            </a:r>
          </a:p>
          <a:p xmlns:a="http://schemas.openxmlformats.org/drawingml/2006/main">
            <a:r>
              <a:t>Source: docs/SIH_PRESENTATION.md.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a one-off form with this connected workflow; do not assert every existing EHR lacks these features.</a:t>
            </a:r>
          </a:p>
          <a:p xmlns:a="http://schemas.openxmlformats.org/drawingml/2006/main">
            <a:r>
              <a:t>Source: docs/SIH_PRESENTATION.md.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Patient input moves through an authorized API into source-aware context; the doctor verifies. No autonomous clinical decisions.</a:t>
            </a:r>
          </a:p>
          <a:p xmlns:a="http://schemas.openxmlformats.org/drawingml/2006/main">
            <a:r>
              <a:t>Source: docs/architecture.md.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English/Hindi UI and bounded Hinglish normalization. Voice is optional; the default demo uses mock speech, so typed input is the reliable live path.</a:t>
            </a:r>
          </a:p>
          <a:p xmlns:a="http://schemas.openxmlformats.org/drawingml/2006/main">
            <a:r>
              <a:t>Source: docs/patient-flow.md; docs/multilingual.md; docs/voice.md.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Default NLU is rules; mock/local OCR; optional providers are bounded. SafetyEngine is not implemented.</a:t>
            </a:r>
          </a:p>
          <a:p xmlns:a="http://schemas.openxmlformats.org/drawingml/2006/main">
            <a:r>
              <a:t>Source: docs/ai-architecture.md; docs/document-ai.md; docs/safety.md.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authorized doctor route tree; evidence and verification history. Avoid measured efficiency claims.</a:t>
            </a:r>
          </a:p>
          <a:p xmlns:a="http://schemas.openxmlformats.org/drawingml/2006/main">
            <a:r>
              <a:t>Source: docs/doctor-workspace.md.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Combination of parts, not unsupported competitor superiority.</a:t>
            </a:r>
          </a:p>
          <a:p xmlns:a="http://schemas.openxmlformats.org/drawingml/2006/main">
            <a:r>
              <a:t>Source: docs/SIH_README.md.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diagnosis, prescription, treatment, emergency screening or all-clear. Priority review badge is operational, not clinical.</a:t>
            </a:r>
          </a:p>
          <a:p xmlns:a="http://schemas.openxmlformats.org/drawingml/2006/main">
            <a:r>
              <a:t>Source: docs/safety.md.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patient and doctor route trees call the authorized Express API. One Next.js web deployment, not two independently deployed apps. HTTP polling, not WebSockets.</a:t>
            </a:r>
          </a:p>
          <a:p xmlns:a="http://schemas.openxmlformats.org/drawingml/2006/main">
            <a:r>
              <a:t>Source: docs/architecture.md.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English/Hindi active; bounded Hinglish. AYUSH data is captured without inferring biomedical equivalence.</a:t>
            </a:r>
          </a:p>
          <a:p xmlns:a="http://schemas.openxmlformats.org/drawingml/2006/main">
            <a:r>
              <a:t>Source: docs/multilingual.md; docs/ayush.md.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PDF and images validated; mock or local OCR; conservative candidates. Scanned image-only PDFs and handwriting unsupported/unverified.</a:t>
            </a:r>
          </a:p>
          <a:p xmlns:a="http://schemas.openxmlformats.org/drawingml/2006/main">
            <a:r>
              <a:t>Source: docs/document-ai.md.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Timeline and What Changed are deterministic longitudinal organization, not clinical diagnosis. Brief is source-aware and reviewable.</a:t>
            </a:r>
          </a:p>
          <a:p xmlns:a="http://schemas.openxmlformats.org/drawingml/2006/main">
            <a:r>
              <a:t>Source: docs/timeline.md; docs/what-changed.md; docs/clinical-brief.md.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Backend-issued daily token; doctor transitions persist; screens poll roughly every eight seconds. A-001 is seeded Aarav only.</a:t>
            </a:r>
          </a:p>
          <a:p xmlns:a="http://schemas.openxmlformats.org/drawingml/2006/main">
            <a:r>
              <a:t>Source: docs/waiting-token.md.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Prototype signed proofs, role/object authorization, private file route, validation and audit. No certification or production IdP claim.</a:t>
            </a:r>
          </a:p>
          <a:p xmlns:a="http://schemas.openxmlformats.org/drawingml/2006/main">
            <a:r>
              <a:t>Source: docs/security.md.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Disclose any switch to preseeded Aarav. No live SafetyEngine. Follow docs/SIH_LIVE_DEMO_SCRIPT.md and failure plan.</a:t>
            </a:r>
          </a:p>
          <a:p xmlns:a="http://schemas.openxmlformats.org/drawingml/2006/main">
            <a:r>
              <a:t>Source: docs/SIH_LIVE_DEMO_SCRIPT.md.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Potential impact is unmeasured. No customers, accuracy, savings or production readiness claim.</a:t>
            </a:r>
          </a:p>
          <a:p xmlns:a="http://schemas.openxmlformats.org/drawingml/2006/main">
            <a:r>
              <a:t>Source: docs/roadmap.md; docs/limitations.md. Prototype boundaries: docs/limitations.md; docs/safety.md.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exactly: HELIOS does not replace the doctor. It gives the doctor a clearer story, before the consultation begins. Turn patient waiting time into clinical intelligence. Source: docs/SIH_README.md; docs/limitations.md.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50576ccb1e4e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ced5e44e9044ff" /><Relationship Type="http://schemas.openxmlformats.org/officeDocument/2006/relationships/slideLayout" Target="/ppt/slideLayouts/slideLayout1.xml" Id="R3b8b9b9630dc49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8b9b9630dc49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cb5e10bd749ec" /><Relationship Type="http://schemas.openxmlformats.org/officeDocument/2006/relationships/notesSlide" Target="/ppt/notesSlides/notesSlide1.xml" Id="R43c61e778f0b48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7b37ae3184525" /><Relationship Type="http://schemas.openxmlformats.org/officeDocument/2006/relationships/notesSlide" Target="/ppt/notesSlides/notesSlide2.xml" Id="R09522d694b974a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7c80ac1a94f06" /><Relationship Type="http://schemas.openxmlformats.org/officeDocument/2006/relationships/notesSlide" Target="/ppt/notesSlides/notesSlide3.xml" Id="R6376110aa3d246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6cbed86944db0" /><Relationship Type="http://schemas.openxmlformats.org/officeDocument/2006/relationships/notesSlide" Target="/ppt/notesSlides/notesSlide4.xml" Id="Rbc2b7bd88ed94d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a98a6a7324893" /><Relationship Type="http://schemas.openxmlformats.org/officeDocument/2006/relationships/notesSlide" Target="/ppt/notesSlides/notesSlide5.xml" Id="R059fd052cfcd4a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972e9f96640a1" /><Relationship Type="http://schemas.openxmlformats.org/officeDocument/2006/relationships/notesSlide" Target="/ppt/notesSlides/notesSlide6.xml" Id="R4c539a3b75d44d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06e5d544c4b1a" /><Relationship Type="http://schemas.openxmlformats.org/officeDocument/2006/relationships/notesSlide" Target="/ppt/notesSlides/notesSlide7.xml" Id="Rcdc7cac2a2ad47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68efcbe4640f0" /><Relationship Type="http://schemas.openxmlformats.org/officeDocument/2006/relationships/notesSlide" Target="/ppt/notesSlides/notesSlide8.xml" Id="R9abd643ad4dc43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6fafaed6b4db0" /><Relationship Type="http://schemas.openxmlformats.org/officeDocument/2006/relationships/notesSlide" Target="/ppt/notesSlides/notesSlide9.xml" Id="Rb4620987ad624f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25333b7414c2c" /><Relationship Type="http://schemas.openxmlformats.org/officeDocument/2006/relationships/notesSlide" Target="/ppt/notesSlides/notesSlide10.xml" Id="R9ad6a4e26b9241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36f36f2434d12" /><Relationship Type="http://schemas.openxmlformats.org/officeDocument/2006/relationships/notesSlide" Target="/ppt/notesSlides/notesSlide11.xml" Id="R83e0bd7abf1e42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9f285e7e045df" /><Relationship Type="http://schemas.openxmlformats.org/officeDocument/2006/relationships/notesSlide" Target="/ppt/notesSlides/notesSlide12.xml" Id="R0d5d9af1abab42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5dda2853a46ae" /><Relationship Type="http://schemas.openxmlformats.org/officeDocument/2006/relationships/notesSlide" Target="/ppt/notesSlides/notesSlide13.xml" Id="Rba7b1d424db141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3ea5535434017" /><Relationship Type="http://schemas.openxmlformats.org/officeDocument/2006/relationships/notesSlide" Target="/ppt/notesSlides/notesSlide14.xml" Id="R81fb37fc7c1b44b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46f5be43a4f05" /><Relationship Type="http://schemas.openxmlformats.org/officeDocument/2006/relationships/notesSlide" Target="/ppt/notesSlides/notesSlide15.xml" Id="Ra8539737b45c4a9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970586ed14b1e" /><Relationship Type="http://schemas.openxmlformats.org/officeDocument/2006/relationships/notesSlide" Target="/ppt/notesSlides/notesSlide16.xml" Id="R933ed0036c60482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ede389ac74264" /><Relationship Type="http://schemas.openxmlformats.org/officeDocument/2006/relationships/notesSlide" Target="/ppt/notesSlides/notesSlide17.xml" Id="R9a9a7bfd8bd84d6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c9f976bfd40c1" /><Relationship Type="http://schemas.openxmlformats.org/officeDocument/2006/relationships/notesSlide" Target="/ppt/notesSlides/notesSlide18.xml" Id="R57dc540e836247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F5665-7550-4677-8017-5EE5FC6B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25705-7D55-403C-84A0-9F1A524F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F9FCFB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F9FCFB"/>
                </a:solidFill>
                <a:latin typeface="Arial"/>
                <a:ea typeface="Arial"/>
                <a:cs typeface="Arial"/>
              </a:rPr>
              <a:t>HELIOS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B3A74-9FFD-4B01-A532-2F60F276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E5F8F4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E5F8F4"/>
                </a:solidFill>
                <a:latin typeface="Arial"/>
                <a:ea typeface="Arial"/>
                <a:cs typeface="Arial"/>
              </a:rPr>
              <a:t>Turn patient waiting time into clinical intelligence.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B6E9A-DE30-4365-A698-301FFB7D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0636B-C72A-45C4-9D4F-C174549E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EC9D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EC9D3"/>
                </a:solidFill>
                <a:latin typeface="Arial"/>
                <a:ea typeface="Arial"/>
                <a:cs typeface="Arial"/>
              </a:rPr>
              <a:t>SIH  ·  Synthetic prototype</a:t>
            </a:r>
          </a:p>
        </p:txBody>
      </p:sp>
    </p:spTree>
    <p:extLst>
      <p:ext uri="{BB962C8B-B14F-4D97-AF65-F5344CB8AC3E}">
        <p14:creationId xmlns:p14="http://schemas.microsoft.com/office/powerpoint/2010/main" val="19780357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5B583C-8B03-457A-8DE6-02AE49D2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C3BD4-9310-42B9-8480-8E83162C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story arrives fragmented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39C38-5746-4028-A668-04072445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65927-323A-4F95-891B-E0AFC5FC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42169-7569-4C31-97B2-0DD6B755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E1647-40FB-4136-B5F8-EB74B038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D34DF-0380-49AB-8026-E886B134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25710-F4BB-4DE9-AC74-EF21BDD7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Waiting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09C2B-293A-4EDC-BC94-CF0DE665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The patient is available before the consultation.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A91DB-378D-464C-95CD-2A71B3CF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5620A-D661-4A10-B007-2AC76FEF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35EB7C-3CEA-4E94-86C8-7A9F5852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Scattered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160D9E-6AD9-40F6-A303-3F5BFA64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Symptoms, old reports, dates and medicines sit apart.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8E5FB2-F62B-4FC8-8ABB-B45FEFCD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67E54-719B-4A73-893D-7BC69F43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EFDF3F-652B-4626-9231-927777C1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Language friction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3A60DB-10A8-4A4E-9A00-28D643D7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Natural wording can be hard to capture in fixed fields.</a:t>
            </a:r>
          </a:p>
        </p:txBody>
      </p:sp>
    </p:spTree>
    <p:extLst>
      <p:ext uri="{BB962C8B-B14F-4D97-AF65-F5344CB8AC3E}">
        <p14:creationId xmlns:p14="http://schemas.microsoft.com/office/powerpoint/2010/main" val="5647032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2D1630-9638-4802-B33B-C321527A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6C83E-87B1-477F-9F27-A5FF2FF1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Forms collect answers. Clinicians need context.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D5AFB-F576-4AC0-91F4-7EA60001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A895B-9687-4F33-8F9B-EAE38409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C70A6-92E7-48D5-8F3B-C49210E4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CC885-D591-4077-87CC-F0A9C525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E2D0D-49DA-4185-AB4E-25D76E51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906FD-198C-4B4B-86BD-DA53B734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One encounter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F256F-C401-41DD-98F5-1B444034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A field captures today, not the trajectory.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10E20C-682D-48CA-862E-DDD36384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EC6A5-181F-4C09-844B-624C85F0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1E159-467D-4335-BC48-AC551284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matters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02810-C9D1-4B7E-9346-9D02277C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A document candidate needs its source and review state.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2ABFC-51B7-4F59-A68D-C6DA52B6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3874B-FD18-4105-B540-FACD4DF5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80CE6-78AB-4FD5-8A1C-09709B95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Change matters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9D1FA-D74D-493D-8EC2-66EA0979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Prior versus current should be visible to the doctor.</a:t>
            </a:r>
          </a:p>
        </p:txBody>
      </p:sp>
    </p:spTree>
    <p:extLst>
      <p:ext uri="{BB962C8B-B14F-4D97-AF65-F5344CB8AC3E}">
        <p14:creationId xmlns:p14="http://schemas.microsoft.com/office/powerpoint/2010/main" val="2749653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48B693-9C34-43EC-9187-B281889E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EA284-6272-4792-B4F2-EE08356F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Intake becomes a doctor-ready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7460D-4A4C-401D-AC1F-EE7C283D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BAC23-55B6-4CFB-9222-D52DE8B0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40523C-4869-499A-91CD-2BD8F7F8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79F99-5FFF-4324-94A6-1167367B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125AB-1072-4F44-8CAC-774A5DCD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Patient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50B3B-9666-4291-89FA-DA774B86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59C8C-2EA0-49F5-B1EE-C9B95295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C7508-359C-43C6-A6E0-AE62AB24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8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Source-labelled facts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952A3-5CA7-4D4B-815F-ACD8317B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1A5D3-1B2C-4565-AEC3-23A8A8E1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1CC055-A284-4882-AFB9-E426E5BA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Timeline + brief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B1980D-3C53-4E1E-B3D4-AA9E77C3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63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EAD45-F93C-4573-A614-2AD65D69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CD70A2-D7CE-4569-BBBD-ADF65662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Doctor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37029-EC0C-4665-8419-E92B2907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The doctor remains the final clinical decision-maker.</a:t>
            </a:r>
          </a:p>
        </p:txBody>
      </p:sp>
    </p:spTree>
    <p:extLst>
      <p:ext uri="{BB962C8B-B14F-4D97-AF65-F5344CB8AC3E}">
        <p14:creationId xmlns:p14="http://schemas.microsoft.com/office/powerpoint/2010/main" val="8556917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E90AC-C80A-4135-A3D6-5414B562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63955-CEAC-4640-A017-B69B5F76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patient speaks naturally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06E57-F00D-4C08-8E52-D1A14740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5CDD1-DF1D-4357-B501-C8AEC262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9A4D5-4AF1-4FE7-86A9-EF43320A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2C576-6709-4DE3-9B48-9216429F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0DDB4-EF1D-4CB2-82AD-5AE49C8A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C2768-AD4B-4625-8ED5-C69644C3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  Consent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70ED6-2E4F-4CFD-97B7-B5625CAB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Choose English or Hindi before clinical capture.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9FB97-CF86-4357-9154-7AA8F215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9D424F-AD60-4CBC-9D4E-2A440363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20FEC-7827-45D1-A2FA-3DE49F79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  Describe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62395F-C1FE-44A7-B1BC-524430A4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Speak or type; answer adaptive questions.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19735-BA1E-4185-ABF1-BC4E4C6B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3FCD29-D8E5-4F25-9A65-2BB6A481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D2296A-71A7-4DAE-9CDF-AC9BAE95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 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EA095A-66BA-43FD-A9C4-CF22896D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Check document candidates, submit and receive a token.</a:t>
            </a:r>
          </a:p>
        </p:txBody>
      </p:sp>
    </p:spTree>
    <p:extLst>
      <p:ext uri="{BB962C8B-B14F-4D97-AF65-F5344CB8AC3E}">
        <p14:creationId xmlns:p14="http://schemas.microsoft.com/office/powerpoint/2010/main" val="20227831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5D073-B619-490E-8E6E-8E074042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DBF72-E336-443D-B362-987020DC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 transparent processing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9F173-D760-4530-94A5-AB7F20AE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29C37-10CF-49E1-84E5-790BB2B7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6B6E9-8556-48C0-B6AC-A7BF95AC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60F99-8E61-4CAF-8F0E-5393EAD0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FB070-668C-4759-9B97-AAB7548C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Confirmed 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D6B90-D511-4E74-95A7-AAA70E27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EF5F1-1C7D-4D4A-B46E-8FD39ABB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948E1C-78B9-43D2-BCB0-E204AECD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Interview + facts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00FB1-1FBD-46D2-BAC3-0D979BE0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5213A-8B01-4FBE-88FC-34353B36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2A7C4-09B7-43E2-BBBB-DDF3E93E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06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+ timeline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8D5508-424C-430B-8D3E-14681569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63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35EAE-120B-46A9-B47B-3024940A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1DAEE-8BBB-4F6B-B2B0-AE3E3042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Comparison + brief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DFE2E3-BF48-4A34-8EED-5060ED7E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7C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C96"/>
                </a:solidFill>
                <a:latin typeface="Arial"/>
                <a:ea typeface="Arial"/>
                <a:cs typeface="Arial"/>
              </a:rPr>
              <a:t>AI adapters assist  ·  Deterministic services govern  ·  Doctor verifies</a:t>
            </a:r>
          </a:p>
        </p:txBody>
      </p:sp>
    </p:spTree>
    <p:extLst>
      <p:ext uri="{BB962C8B-B14F-4D97-AF65-F5344CB8AC3E}">
        <p14:creationId xmlns:p14="http://schemas.microsoft.com/office/powerpoint/2010/main" val="18571958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56723C-34BD-4E38-92E0-856DB08D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F59B0-CD01-443A-A625-D6D0B705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doctor sees the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208C5-440D-45B1-AC44-BA46A0EE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D2FB0-E273-4066-9DBC-942D0655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063C0-6DF4-4953-A9FF-6C964C65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E5F02-4B8C-4A3B-B846-7D974D75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6B11E-D4B4-482F-979A-E7DA58A5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502D7-5363-429B-B4A5-7553300D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9C34CD-B6B4-4338-8101-C11D53C1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Call, start and complete from persisted state.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511BB-C794-4B14-937F-50A6EC76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07AF97-2650-4A9F-9215-1633849F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3C55AC-ABBA-4FFB-A20C-CE57DC82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79D8F-AE79-42CE-B45A-1BB914A7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Brief, What Changed, timeline and document sources.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07F9E-D111-4E39-9BDD-019B8BC0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11175C-D39B-4076-9ED7-66222902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B515A-3AC8-4707-B1F6-2046F745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E1827F-93E9-4A24-80AC-73F4D670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Verify, correct, reject or mark uncertain.</a:t>
            </a:r>
          </a:p>
        </p:txBody>
      </p:sp>
    </p:spTree>
    <p:extLst>
      <p:ext uri="{BB962C8B-B14F-4D97-AF65-F5344CB8AC3E}">
        <p14:creationId xmlns:p14="http://schemas.microsoft.com/office/powerpoint/2010/main" val="9335870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1A0064-C7DA-4D51-86DA-3BBA1E16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B0094-996B-4798-8230-38ECF8B3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Innovation is the connected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6C31F-A957-4E32-BCCB-3094DF4C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0BFAE-C8D8-403F-B781-64EBCAEA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ACA53-BAF5-47E5-8B67-DC304A9B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74122-17BB-436A-93EC-0D9869AC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14C3F-9362-4493-9B02-650B040A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47610-7C26-4692-8CFF-1FA0A73B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Before visit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ED0A1-72BE-4C2D-B865-6B8853B4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Multilingual consented intake + real token.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EADBD-447A-40E3-B439-4FA7E94C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2F13B-FE75-4122-9DCC-058B7C44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1CBCB-CE5B-48C8-8EB5-00769C70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Across visits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9F97E-CC62-4AB4-978F-24DBB750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Evidence-linked timeline and comparison.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2A4EB-BCE7-40E0-AC9E-36472CDF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269AB-0125-4C5C-8462-A3895877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FA2536-D90A-4E0E-B8F4-52F0F43A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At the doctor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B88A2E-5340-4636-89E4-A9E78F17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Concise brief plus explicit verification.</a:t>
            </a:r>
          </a:p>
        </p:txBody>
      </p:sp>
    </p:spTree>
    <p:extLst>
      <p:ext uri="{BB962C8B-B14F-4D97-AF65-F5344CB8AC3E}">
        <p14:creationId xmlns:p14="http://schemas.microsoft.com/office/powerpoint/2010/main" val="10637685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795E6-4FA5-4404-9C29-EA9E917A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06F14-1766-435F-BD6B-73346A24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Clinical authority stays with the doctor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2D068-F575-4096-9EE8-60B44A6B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AF90E-7FC5-4DCC-A271-8A7150B5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2B614-B46A-4AD3-A213-7BA22F7A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86AB4-383E-45D0-A1E1-0C078927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50292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C0CEA-B8D8-4A0B-A51F-67832F07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2926E-5760-4F11-9171-2A89D3B4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57425"/>
            <a:ext cx="4533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37224-2627-404A-9F54-8F28356A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14625"/>
            <a:ext cx="45339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Source provenance, uncertainty, doctor verification and controlled access.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DBB9B2-84F0-44B3-8647-C7E4CF36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54483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7C11D-5F1F-4178-89D9-BF2A8105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762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A2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31D99-3B2A-48AA-8757-D70AC576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57425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NEXT — not live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9000F-D82F-4EEE-B2E3-D568EA72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14625"/>
            <a:ext cx="4953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Clinician-approved, versioned SafetyEngine with testing and governance.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575A0C-A460-4CA7-B13E-4C6AEF44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35C5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35C59"/>
                </a:solidFill>
                <a:latin typeface="Arial"/>
                <a:ea typeface="Arial"/>
                <a:cs typeface="Arial"/>
              </a:rPr>
              <a:t>No automated clinical safety signal is claimed.</a:t>
            </a:r>
          </a:p>
        </p:txBody>
      </p:sp>
    </p:spTree>
    <p:extLst>
      <p:ext uri="{BB962C8B-B14F-4D97-AF65-F5344CB8AC3E}">
        <p14:creationId xmlns:p14="http://schemas.microsoft.com/office/powerpoint/2010/main" val="8446078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9001D8-CEC8-421E-833E-B2CBEDC9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DD037-ED0B-4F50-85DF-4CB3D14B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One backend. Two protected experiences.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18DBD5-25F8-475A-B170-0A8C798C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ECCE9-3EFA-4324-A244-B2C5B510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4685A-0EAD-48AE-A627-F3350BF8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A6125-B91F-4EB4-8561-A61045E8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2860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92C56-E015-4F66-9FF4-A31E4C11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E0211-3871-4760-A64C-E7DE7D86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1790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Patient routes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5F54F-0DDC-4911-A76A-3BE7E2CD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194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98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Signed patient 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AB0E26-8190-4423-89EA-7395074A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2860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3E016-CDD8-454A-92B5-C4F68C9F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9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220EB-4264-4A8B-8A32-DBCA3569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1790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Doctor routes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F309A-F831-409B-A34F-DA374F55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1790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21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Signed doctor 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A1D67-41D1-4E20-8C78-A00375D1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479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13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0D622B-B204-4D48-A612-4937D248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1952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13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D167BF-0577-4E55-98B0-4EC94097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505075"/>
            <a:ext cx="291465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7A2344-287F-4DCC-BCA3-A8BDD0FD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505075"/>
            <a:ext cx="7620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C9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E9863B-E4E3-45FB-ACD4-E9A5E7A3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14625"/>
            <a:ext cx="2419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Express 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6FAA9-B055-48C2-80C2-C2A98C34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171825"/>
            <a:ext cx="2419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Object checks + domain services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0E12F7-82EB-413A-8D28-187EC281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8956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13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D3EEA4-27A9-4AC6-8FCA-C53FF0DB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505075"/>
            <a:ext cx="3581400" cy="1552575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A6568B-EA99-4CF8-A7EC-0CAA57E1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505075"/>
            <a:ext cx="7620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E90FD4-32FD-4E21-BB49-DF6F1745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714625"/>
            <a:ext cx="3086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Prisma + PostgreSQL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9C166E-6A1E-4048-B23C-A0508909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171825"/>
            <a:ext cx="308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Private storage + bounded adapters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D137C8-B190-49F4-A77C-DD1656DC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038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Separate UI paths; shared authorized clinical data.</a:t>
            </a:r>
          </a:p>
        </p:txBody>
      </p:sp>
    </p:spTree>
    <p:extLst>
      <p:ext uri="{BB962C8B-B14F-4D97-AF65-F5344CB8AC3E}">
        <p14:creationId xmlns:p14="http://schemas.microsoft.com/office/powerpoint/2010/main" val="12539529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266090-11DD-465E-9603-7DE07B1A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81DD5-632E-45D4-A466-C79A1752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Language and AYUSH stay source-aware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A520A-D6EE-420D-BC4C-2ABDA04A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648D3-91F7-439F-AA05-BE1D404E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0913D-334A-4B6E-B1C7-1F05344E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B2CEA-E1BD-419D-A7C0-7FEBD4DC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15E59-4628-4938-8E7F-A0211338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B5593F-AC3F-4EE8-A8AF-164DDA63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English + Hindi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ADE3B-4E4C-4394-8D27-94FB41C3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Patient-facing UI and questions.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44A55-E0C5-4B11-A852-44D9363E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26293-FBF6-4788-AA75-2A781515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C370C-6D1C-4765-9344-09CEAAF1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Original wording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31217-5019-4F23-B39D-3D6D5A5C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Preserved beside normalized terms.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30AF62-8438-4D32-87FD-8F31C105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1839A-6F33-47D1-BE2F-7D9EC81C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9BD8BC-053B-4E8F-9681-4783523A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AYUSH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E1B26B-8C3B-41A3-80C6-8EB0460D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System, treatment, timing and evidence in the record.</a:t>
            </a:r>
          </a:p>
        </p:txBody>
      </p:sp>
    </p:spTree>
    <p:extLst>
      <p:ext uri="{BB962C8B-B14F-4D97-AF65-F5344CB8AC3E}">
        <p14:creationId xmlns:p14="http://schemas.microsoft.com/office/powerpoint/2010/main" val="11084250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15333F-FD1E-4123-96DB-B86384C0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4E486-EB81-4983-9FD3-0FCF2D6C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Documents add evidence, not automatic truth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9DBDD-5EA9-4EA8-B5F1-B16AD490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EBD1C-088A-41A8-9BAB-8BCF0A92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8474B-DFFC-4EA9-83BF-FDA71C7A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1ED0D-95CC-42B4-A341-FED62396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DD819-F7D2-4193-8E77-1D235E65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Validated upload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C48CF-3604-4212-885A-3CBEC010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3CFE9-E122-4FE4-AD8F-76AFC6CF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A9D910-711D-4B8B-87D8-95AAC658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Mock/local OCR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C90DB-2837-41EE-9A4D-7DCEAAE4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E86FA-A68E-43FD-A7B1-3681F24D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A8B2C-C96F-4A2D-A437-A79C8EBE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8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Page-linked candidate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39B4D2-4C51-44C1-B80B-79D67309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63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56497C-6C3A-4547-9B4A-4E07A68D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FF8E5-4AF2-4520-AA62-701E8148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8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Patient + doctor review</a:t>
            </a:r>
          </a:p>
        </p:txBody>
      </p:sp>
    </p:spTree>
    <p:extLst>
      <p:ext uri="{BB962C8B-B14F-4D97-AF65-F5344CB8AC3E}">
        <p14:creationId xmlns:p14="http://schemas.microsoft.com/office/powerpoint/2010/main" val="17250577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2BBE9D-CF0B-4737-B0ED-515B38A0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6A2E0-CB43-48C0-957F-618427B1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Before → current → difference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AFD91-4061-444D-A168-2FF9507C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28A63-AF57-4ED3-84F3-6457FB2C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D2BDB-9670-4219-AD83-D292A4F6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26BC7-1B2D-4ECB-A438-F1458747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9A2FD-28E7-43AD-95B0-8D199D6A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C26CE-CD37-4E54-A370-1BF4429D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Timeline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EFCFB-1403-4FFA-8EDC-DB481523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Source-labelled events across visits.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136FE9-3CFF-43D4-BF83-DD6B74D8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562B19-A726-4E3A-B5E1-576196A1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0F2C80-37ED-4895-BD50-95121B62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Changed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F3225A-DD60-4870-8CA6-EB7826E6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Snapshot comparison highlights differences.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18C90-55A7-4470-8153-FCD8B72B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1B8E0F-E1CE-4CD8-A5A1-250FBDA0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A4CCA8-9825-4E02-99C9-6C3E9DFD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Clinical Brief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48DEA7-3372-4C9D-BCEF-45D5505B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Short, versioned context for doctor review.</a:t>
            </a:r>
          </a:p>
        </p:txBody>
      </p:sp>
    </p:spTree>
    <p:extLst>
      <p:ext uri="{BB962C8B-B14F-4D97-AF65-F5344CB8AC3E}">
        <p14:creationId xmlns:p14="http://schemas.microsoft.com/office/powerpoint/2010/main" val="696563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E0E19A-F0CA-4892-9A9A-E5A1FD12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6D980-D4CA-4FDC-82DB-AD344356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queue makes intake operational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A30D9-F276-4477-B00C-03F11779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F4E4D-77BC-4E82-A4A3-78B52AB6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37D3C-D435-4A88-BC49-EAB9E6D8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41445-58DE-4AEE-AAA5-A2BB5ED8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9094F-BC90-4F7F-BA71-89E09B81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Submit + check 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E3CB7-5DE0-44E0-BE5F-105F8ED3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FCCC5-07E0-41B3-B4B6-D2628140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E1F14-5519-417C-9055-3AB0B4D0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Daily token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09FF9-4F7D-4253-839A-F8E3B54C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1B60B-32FA-470E-B701-1DF733CA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9560C-3688-4AD5-B37A-28914F06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Doctor calls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1B69F-3259-4EE1-B367-C67C4A60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63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F4098-0AF2-4779-B70B-0D4FA73A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CC36B-D138-49BC-8C6D-65CD480C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Patient sees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B3E27C-89C5-4087-B8BF-D0474922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A35C5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35C59"/>
                </a:solidFill>
                <a:latin typeface="Arial"/>
                <a:ea typeface="Arial"/>
                <a:cs typeface="Arial"/>
              </a:rPr>
              <a:t>Queue priority is not a clinical risk signal.</a:t>
            </a:r>
          </a:p>
        </p:txBody>
      </p:sp>
    </p:spTree>
    <p:extLst>
      <p:ext uri="{BB962C8B-B14F-4D97-AF65-F5344CB8AC3E}">
        <p14:creationId xmlns:p14="http://schemas.microsoft.com/office/powerpoint/2010/main" val="13497391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055B1B-8397-4D2E-946E-6CDA23DE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E4259-7F07-42A3-8D97-C92205F6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Access is checked at the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546E7-6C3D-4BD3-8DED-C6C92736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383CE-1B6E-4D55-A429-8D8D2948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A53A0-9DA1-4888-967B-0AEB4FCF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BCDB4-0E53-48DF-83A4-19912F82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D0D4CA-D115-4BB8-8D61-04A31894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1D9FE-6259-4399-98A6-C8C770B5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Patient proof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3FDC6-20DE-4B9D-B8E5-54A1C82F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Ownership checked on every patient object.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7629F-A8AC-4E21-B0B5-75D824AA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01C73-9753-4D83-83A0-B1692186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919FD-CEB9-42AB-8BB6-147FD644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Doctor 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0E4DA-B107-4A78-B7D0-9FE1003D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Role/assignment checks gate workspace data.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1877F-6F42-4BE2-BAF0-42CBBE45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342900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321A68-43B7-4336-A69D-123E0C9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33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2D6A93-F2E4-46B5-B519-95F3ED79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29337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Demo guard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6F758E-4009-49D1-A13C-C6D9A56C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29337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Reset restricted to local synthetic database.</a:t>
            </a:r>
          </a:p>
        </p:txBody>
      </p:sp>
    </p:spTree>
    <p:extLst>
      <p:ext uri="{BB962C8B-B14F-4D97-AF65-F5344CB8AC3E}">
        <p14:creationId xmlns:p14="http://schemas.microsoft.com/office/powerpoint/2010/main" val="8836479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479417-3D89-48B6-A61E-CC6EAFF2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62170-1DB5-43BB-99E7-A34A267F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Live demo: follow one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6E018-9C70-49E2-B4EC-9B2FB5EE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042E1-9320-43A5-8652-B86DEEE2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CC212-083B-4420-99A6-D7ECA3F0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F5DAB-F524-4780-B7ED-AF326B4E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14A1D-2256-494C-B744-7019CF56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Hindi + typed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2FBAF-6414-48AD-8338-250FF942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3973B-3C5A-4321-B03A-E9477057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71834E-8B8D-4A09-AEC4-438658CF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Questions + token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575A2-9B15-4535-B887-D1972160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560B64-BB7A-4652-8084-4A1E90C3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5ACCA3-C863-4597-B130-290E226F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Doctor queue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AB153D-7F5C-46C4-B9F4-5F79E37E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63" y="29622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47854C-D5F0-421D-B6D3-8A50A582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2571750"/>
            <a:ext cx="2538413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3F4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4CBD7D-941E-4C92-A9DF-218B24BF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738" y="2895600"/>
            <a:ext cx="2271713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+ 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342810-E55A-4CF2-A6A8-0B0A2EC1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F9A9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F9A91"/>
                </a:solidFill>
                <a:latin typeface="Arial"/>
                <a:ea typeface="Arial"/>
                <a:cs typeface="Arial"/>
              </a:rPr>
              <a:t>Synthetic data  ·  Backend state  ·  Human decision</a:t>
            </a:r>
          </a:p>
        </p:txBody>
      </p:sp>
    </p:spTree>
    <p:extLst>
      <p:ext uri="{BB962C8B-B14F-4D97-AF65-F5344CB8AC3E}">
        <p14:creationId xmlns:p14="http://schemas.microsoft.com/office/powerpoint/2010/main" val="3465987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9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E8929-E58C-460F-88BE-48EEEFDC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0341D-7E76-4301-89A3-4D63E95E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Now is a prototype. Next is clinical readiness.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ACF92-D54F-4F10-9941-C6E56DB4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85C76-DEB6-4057-9EE6-A4A89563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HELIOS  /  SIH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A6447-9080-462D-80BB-3DE5CDE4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00800"/>
            <a:ext cx="495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9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26A7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F4F7F-7736-4EF0-853E-5DF5D2B8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5029200" cy="2886075"/>
          </a:xfrm>
          <a:prstGeom xmlns:a="http://schemas.openxmlformats.org/drawingml/2006/main" prst="roundRect">
            <a:avLst>
              <a:gd name="adj" fmla="val 2640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F974B-7504-4124-9F5D-AD926AE6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76200" cy="288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64003-EBE3-40D8-9D98-768E81C0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4533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IMPLEMENTED 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E69AB-5458-4F26-8122-A77D7693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45339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Intake, provenance, timeline, comparison, brief, queue, verification and guarded synthetic demo.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6CFB0-EB74-4B91-95D3-9D9D69C2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19300"/>
            <a:ext cx="5448300" cy="2886075"/>
          </a:xfrm>
          <a:prstGeom xmlns:a="http://schemas.openxmlformats.org/drawingml/2006/main" prst="roundRect">
            <a:avLst>
              <a:gd name="adj" fmla="val 2640"/>
            </a:avLst>
          </a:prstGeom>
          <a:solidFill xmlns:a="http://schemas.openxmlformats.org/drawingml/2006/main">
            <a:srgbClr val="F9FCFB"/>
          </a:solidFill>
          <a:ln xmlns:a="http://schemas.openxmlformats.org/drawingml/2006/main" w="9525">
            <a:solidFill>
              <a:srgbClr val="BDD2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58DE98-67DA-4168-97D1-40EC6CF5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19300"/>
            <a:ext cx="76200" cy="288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A2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89FECB-1E3C-4983-9EFA-BC4AF216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28850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C814C3-C1B2-451E-BB0F-77B1D03E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86050"/>
            <a:ext cx="49530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A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A78"/>
                </a:solidFill>
                <a:latin typeface="Arial"/>
                <a:ea typeface="Arial"/>
                <a:cs typeface="Arial"/>
              </a:rPr>
              <a:t>Clinical SafetyEngine; production identity and retention; provider and full-browser clinical evaluation.</a:t>
            </a:r>
          </a:p>
        </p:txBody>
      </p:sp>
    </p:spTree>
    <p:extLst>
      <p:ext uri="{BB962C8B-B14F-4D97-AF65-F5344CB8AC3E}">
        <p14:creationId xmlns:p14="http://schemas.microsoft.com/office/powerpoint/2010/main" val="5354667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17051-E88D-48C9-9D50-827F8F6F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482B2-6D19-4067-9CAC-35967F47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287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9FCFB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9FCFB"/>
                </a:solidFill>
                <a:latin typeface="Arial"/>
                <a:ea typeface="Arial"/>
                <a:cs typeface="Arial"/>
              </a:rPr>
              <a:t>A clearer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8617A-037B-491A-9A1A-6FDF872A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75" b="0">
                <a:solidFill>
                  <a:srgbClr val="D8F3EF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D8F3EF"/>
                </a:solidFill>
                <a:latin typeface="Arial"/>
                <a:ea typeface="Arial"/>
                <a:cs typeface="Arial"/>
              </a:rPr>
              <a:t>before the consultation begins.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60199-926B-42D1-8F85-EF933A92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A9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F20B6-2335-45D4-9CB0-086D3973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9FCF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9FCFB"/>
                </a:solidFill>
                <a:latin typeface="Arial"/>
                <a:ea typeface="Arial"/>
                <a:cs typeface="Arial"/>
              </a:rPr>
              <a:t>HELIOS does not replace the doctor.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779CC-AB89-40B2-B0E5-5E7B4982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7DDE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7DDE0"/>
                </a:solidFill>
                <a:latin typeface="Arial"/>
                <a:ea typeface="Arial"/>
                <a:cs typeface="Arial"/>
              </a:rPr>
              <a:t>Turn patient waiting time into clinical intelligence.</a:t>
            </a:r>
          </a:p>
        </p:txBody>
      </p:sp>
    </p:spTree>
    <p:extLst>
      <p:ext uri="{BB962C8B-B14F-4D97-AF65-F5344CB8AC3E}">
        <p14:creationId xmlns:p14="http://schemas.microsoft.com/office/powerpoint/2010/main" val="493327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2026-09-14T20:41:46.1990000Z</dcterms:created>
  <dcterms:modified xsi:type="dcterms:W3CDTF">2026-09-14T20:41:46.1990000Z</dcterms:modified>
</coreProperties>
</file>