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4f44ae37c416d" /><Relationship Type="http://schemas.openxmlformats.org/officeDocument/2006/relationships/extended-properties" Target="/docProps/app.xml" Id="R2071b98934af4fb0" /><Relationship Type="http://schemas.openxmlformats.org/officeDocument/2006/relationships/officeDocument" Target="/ppt/presentation.xml" Id="Rcf4e316ceff5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cd7dfb2c3480c"/>
  </p:sldMasterIdLst>
  <p:notesMasterIdLst>
    <p:notesMasterId xmlns:r="http://schemas.openxmlformats.org/officeDocument/2006/relationships" r:id="R05b642cbae604e32"/>
  </p:notesMasterIdLst>
  <p:sldIdLst>
    <p:sldId xmlns:r="http://schemas.openxmlformats.org/officeDocument/2006/relationships" id="256" r:id="R7148247118074787"/>
    <p:sldId xmlns:r="http://schemas.openxmlformats.org/officeDocument/2006/relationships" id="257" r:id="R03287656ab384eac"/>
    <p:sldId xmlns:r="http://schemas.openxmlformats.org/officeDocument/2006/relationships" id="258" r:id="Rf637c2b81761440a"/>
    <p:sldId xmlns:r="http://schemas.openxmlformats.org/officeDocument/2006/relationships" id="259" r:id="Raff2e3c705a94ce1"/>
    <p:sldId xmlns:r="http://schemas.openxmlformats.org/officeDocument/2006/relationships" id="260" r:id="R03923d582ab44a03"/>
    <p:sldId xmlns:r="http://schemas.openxmlformats.org/officeDocument/2006/relationships" id="261" r:id="Rcf3e6ea942be434e"/>
    <p:sldId xmlns:r="http://schemas.openxmlformats.org/officeDocument/2006/relationships" id="262" r:id="Rae8b9ef7129c4be8"/>
    <p:sldId xmlns:r="http://schemas.openxmlformats.org/officeDocument/2006/relationships" id="263" r:id="Rc267d6c2b09b44fb"/>
    <p:sldId xmlns:r="http://schemas.openxmlformats.org/officeDocument/2006/relationships" id="264" r:id="R599b34721d4b47b0"/>
    <p:sldId xmlns:r="http://schemas.openxmlformats.org/officeDocument/2006/relationships" id="265" r:id="R1c65b8a7911d4406"/>
    <p:sldId xmlns:r="http://schemas.openxmlformats.org/officeDocument/2006/relationships" id="266" r:id="R9980e9063f604eaa"/>
    <p:sldId xmlns:r="http://schemas.openxmlformats.org/officeDocument/2006/relationships" id="267" r:id="R48c1938df8a042e3"/>
    <p:sldId xmlns:r="http://schemas.openxmlformats.org/officeDocument/2006/relationships" id="268" r:id="Rb701a648f0e04e53"/>
    <p:sldId xmlns:r="http://schemas.openxmlformats.org/officeDocument/2006/relationships" id="269" r:id="R19a4eea109b440f8"/>
    <p:sldId xmlns:r="http://schemas.openxmlformats.org/officeDocument/2006/relationships" id="270" r:id="R28388c0dc3c94fd0"/>
    <p:sldId xmlns:r="http://schemas.openxmlformats.org/officeDocument/2006/relationships" id="271" r:id="R8bbf78a58bfe4963"/>
    <p:sldId xmlns:r="http://schemas.openxmlformats.org/officeDocument/2006/relationships" id="272" r:id="R07ab01332b5b4d0d"/>
    <p:sldId xmlns:r="http://schemas.openxmlformats.org/officeDocument/2006/relationships" id="273" r:id="R3a885287ba2e41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a2bf1b8cf4f8e" /><Relationship Type="http://schemas.openxmlformats.org/officeDocument/2006/relationships/slideMaster" Target="/ppt/slideMasters/slideMaster1.xml" Id="R3ffcd7dfb2c3480c" /><Relationship Type="http://schemas.openxmlformats.org/officeDocument/2006/relationships/notesMaster" Target="/ppt/notesMasters/notesMaster1.xml" Id="R05b642cbae604e32" /><Relationship Type="http://schemas.openxmlformats.org/officeDocument/2006/relationships/presProps" Target="/ppt/presProps.xml" Id="R38a13b0d04034d42" /><Relationship Type="http://schemas.openxmlformats.org/officeDocument/2006/relationships/tableStyles" Target="/ppt/tableStyles.xml" Id="R75331740e7394cc8" /><Relationship Type="http://schemas.openxmlformats.org/officeDocument/2006/relationships/slide" Target="/ppt/slides/slide1.xml" Id="R7148247118074787" /><Relationship Type="http://schemas.openxmlformats.org/officeDocument/2006/relationships/slide" Target="/ppt/slides/slide2.xml" Id="R03287656ab384eac" /><Relationship Type="http://schemas.openxmlformats.org/officeDocument/2006/relationships/slide" Target="/ppt/slides/slide3.xml" Id="Rf637c2b81761440a" /><Relationship Type="http://schemas.openxmlformats.org/officeDocument/2006/relationships/slide" Target="/ppt/slides/slide4.xml" Id="Raff2e3c705a94ce1" /><Relationship Type="http://schemas.openxmlformats.org/officeDocument/2006/relationships/slide" Target="/ppt/slides/slide5.xml" Id="R03923d582ab44a03" /><Relationship Type="http://schemas.openxmlformats.org/officeDocument/2006/relationships/slide" Target="/ppt/slides/slide6.xml" Id="Rcf3e6ea942be434e" /><Relationship Type="http://schemas.openxmlformats.org/officeDocument/2006/relationships/slide" Target="/ppt/slides/slide7.xml" Id="Rae8b9ef7129c4be8" /><Relationship Type="http://schemas.openxmlformats.org/officeDocument/2006/relationships/slide" Target="/ppt/slides/slide8.xml" Id="Rc267d6c2b09b44fb" /><Relationship Type="http://schemas.openxmlformats.org/officeDocument/2006/relationships/slide" Target="/ppt/slides/slide9.xml" Id="R599b34721d4b47b0" /><Relationship Type="http://schemas.openxmlformats.org/officeDocument/2006/relationships/slide" Target="/ppt/slides/slide10.xml" Id="R1c65b8a7911d4406" /><Relationship Type="http://schemas.openxmlformats.org/officeDocument/2006/relationships/slide" Target="/ppt/slides/slide11.xml" Id="R9980e9063f604eaa" /><Relationship Type="http://schemas.openxmlformats.org/officeDocument/2006/relationships/slide" Target="/ppt/slides/slide12.xml" Id="R48c1938df8a042e3" /><Relationship Type="http://schemas.openxmlformats.org/officeDocument/2006/relationships/slide" Target="/ppt/slides/slide13.xml" Id="Rb701a648f0e04e53" /><Relationship Type="http://schemas.openxmlformats.org/officeDocument/2006/relationships/slide" Target="/ppt/slides/slide14.xml" Id="R19a4eea109b440f8" /><Relationship Type="http://schemas.openxmlformats.org/officeDocument/2006/relationships/slide" Target="/ppt/slides/slide15.xml" Id="R28388c0dc3c94fd0" /><Relationship Type="http://schemas.openxmlformats.org/officeDocument/2006/relationships/slide" Target="/ppt/slides/slide16.xml" Id="R8bbf78a58bfe4963" /><Relationship Type="http://schemas.openxmlformats.org/officeDocument/2006/relationships/slide" Target="/ppt/slides/slide17.xml" Id="R07ab01332b5b4d0d" /><Relationship Type="http://schemas.openxmlformats.org/officeDocument/2006/relationships/slide" Target="/ppt/slides/slide18.xml" Id="R3a885287ba2e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5cd78519ec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27f9441c984e96" /><Relationship Type="http://schemas.openxmlformats.org/officeDocument/2006/relationships/notesMaster" Target="/ppt/notesMasters/notesMaster1.xml" Id="R977fdbd747b440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f0395424a4474d" /><Relationship Type="http://schemas.openxmlformats.org/officeDocument/2006/relationships/notesMaster" Target="/ppt/notesMasters/notesMaster1.xml" Id="R216ae3738cd3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3f1e8a9fc6481f" /><Relationship Type="http://schemas.openxmlformats.org/officeDocument/2006/relationships/notesMaster" Target="/ppt/notesMasters/notesMaster1.xml" Id="R1763b202e082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88cb90b9a3422a" /><Relationship Type="http://schemas.openxmlformats.org/officeDocument/2006/relationships/notesMaster" Target="/ppt/notesMasters/notesMaster1.xml" Id="R8383436cbd2d4b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1f3daab8604ab2" /><Relationship Type="http://schemas.openxmlformats.org/officeDocument/2006/relationships/notesMaster" Target="/ppt/notesMasters/notesMaster1.xml" Id="R047adc4f6d17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393a8331cc481d" /><Relationship Type="http://schemas.openxmlformats.org/officeDocument/2006/relationships/notesMaster" Target="/ppt/notesMasters/notesMaster1.xml" Id="Rb1ed661a212c4d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6737a6b6d4400d" /><Relationship Type="http://schemas.openxmlformats.org/officeDocument/2006/relationships/notesMaster" Target="/ppt/notesMasters/notesMaster1.xml" Id="R95f6475e96df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49531e5a3d4d02" /><Relationship Type="http://schemas.openxmlformats.org/officeDocument/2006/relationships/notesMaster" Target="/ppt/notesMasters/notesMaster1.xml" Id="Rbe628c6127534f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e5aea294fc4fc1" /><Relationship Type="http://schemas.openxmlformats.org/officeDocument/2006/relationships/notesMaster" Target="/ppt/notesMasters/notesMaster1.xml" Id="Rdb926871cd4a4f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717f46671d4896" /><Relationship Type="http://schemas.openxmlformats.org/officeDocument/2006/relationships/notesMaster" Target="/ppt/notesMasters/notesMaster1.xml" Id="Rbced1284cdd94b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afe3a926b845c3" /><Relationship Type="http://schemas.openxmlformats.org/officeDocument/2006/relationships/notesMaster" Target="/ppt/notesMasters/notesMaster1.xml" Id="Rfab8daf0a22e4c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d8bfe695a54f23" /><Relationship Type="http://schemas.openxmlformats.org/officeDocument/2006/relationships/notesMaster" Target="/ppt/notesMasters/notesMaster1.xml" Id="R13ad5bf6d7f847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381e5e82a443fe" /><Relationship Type="http://schemas.openxmlformats.org/officeDocument/2006/relationships/notesMaster" Target="/ppt/notesMasters/notesMaster1.xml" Id="R6fbc297d8dbc41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9d4e73dc0b4a84" /><Relationship Type="http://schemas.openxmlformats.org/officeDocument/2006/relationships/notesMaster" Target="/ppt/notesMasters/notesMaster1.xml" Id="R2f669e47eb1b4a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cf8f024a714641" /><Relationship Type="http://schemas.openxmlformats.org/officeDocument/2006/relationships/notesMaster" Target="/ppt/notesMasters/notesMaster1.xml" Id="Rd110867cff7040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c4fbfceeb74767" /><Relationship Type="http://schemas.openxmlformats.org/officeDocument/2006/relationships/notesMaster" Target="/ppt/notesMasters/notesMaster1.xml" Id="Rba500d4197e14a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638596512e4856" /><Relationship Type="http://schemas.openxmlformats.org/officeDocument/2006/relationships/notesMaster" Target="/ppt/notesMasters/notesMaster1.xml" Id="R167297a8695d48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09327a8da344fb" /><Relationship Type="http://schemas.openxmlformats.org/officeDocument/2006/relationships/notesMaster" Target="/ppt/notesMasters/notesMaster1.xml" Id="Rc6c2e6c292eb42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HELIOS is consented pre-consultation preparation. Never say AI doctor, diagnosis, or deployment.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Qualitative workflow problem only; do not quote invented time savings or prevalence. Ask: where can waiting time be used?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one-off form with this connected workflow; do not assert every existing EHR lacks these features.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Patient input moves through an authorized API into source-aware context; the doctor verifies. No autonomous clinical decisions.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UI and bounded Hinglish normalization. Voice is optional; the default demo uses mock speech, so typed input is the reliable live path.</a:t>
            </a:r>
          </a:p>
          <a:p xmlns:a="http://schemas.openxmlformats.org/drawingml/2006/main">
            <a:r>
              <a:t>Source: docs/patient-flow.md; docs/multilingual.md; docs/voice.md.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Default NLU is rules; mock/local OCR; optional providers are bounded. SafetyEngine is not implemented.</a:t>
            </a:r>
          </a:p>
          <a:p xmlns:a="http://schemas.openxmlformats.org/drawingml/2006/main">
            <a:r>
              <a:t>Source: docs/ai-architecture.md; docs/document-ai.md;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authorized doctor route tree; evidence and verification history. Avoid measured efficiency claims.</a:t>
            </a:r>
          </a:p>
          <a:p xmlns:a="http://schemas.openxmlformats.org/drawingml/2006/main">
            <a:r>
              <a:t>Source: docs/doctor-workspace.md.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Combination of parts, not unsupported competitor superiority.</a:t>
            </a:r>
          </a:p>
          <a:p xmlns:a="http://schemas.openxmlformats.org/drawingml/2006/main">
            <a:r>
              <a:t>Source: docs/SIH_README.md.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diagnosis, prescription, treatment, emergency screening or all-clear. Priority review badge is operational, not clinical.</a:t>
            </a:r>
          </a:p>
          <a:p xmlns:a="http://schemas.openxmlformats.org/drawingml/2006/main">
            <a:r>
              <a:t>Source: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patient and doctor route trees call the authorized Express API. One Next.js web deployment, not two independently deployed apps. HTTP polling, not WebSockets.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active; bounded Hinglish. AYUSH data is captured without inferring biomedical equivalence.</a:t>
            </a:r>
          </a:p>
          <a:p xmlns:a="http://schemas.openxmlformats.org/drawingml/2006/main">
            <a:r>
              <a:t>Source: docs/multilingual.md; docs/ayush.md.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and images validated; mock or local OCR; conservative candidates. Scanned image-only PDFs and handwriting unsupported/unverified.</a:t>
            </a:r>
          </a:p>
          <a:p xmlns:a="http://schemas.openxmlformats.org/drawingml/2006/main">
            <a:r>
              <a:t>Source: docs/document-ai.md.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and What Changed are deterministic longitudinal organization, not clinical diagnosis. Brief is source-aware and reviewable.</a:t>
            </a:r>
          </a:p>
          <a:p xmlns:a="http://schemas.openxmlformats.org/drawingml/2006/main">
            <a:r>
              <a:t>Source: docs/timeline.md; docs/what-changed.md; docs/clinical-brief.md.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Backend-issued daily token; doctor transitions persist; screens poll roughly every eight seconds. A-001 is seeded Aarav only.</a:t>
            </a:r>
          </a:p>
          <a:p xmlns:a="http://schemas.openxmlformats.org/drawingml/2006/main">
            <a:r>
              <a:t>Source: docs/waiting-token.md.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signed proofs, role/object authorization, private file route, validation and audit. No certification or production IdP claim.</a:t>
            </a:r>
          </a:p>
          <a:p xmlns:a="http://schemas.openxmlformats.org/drawingml/2006/main">
            <a:r>
              <a:t>Source: docs/security.md.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any switch to preseeded Aarav. No live SafetyEngine. Follow docs/SIH_LIVE_DEMO_SCRIPT.md and failure plan.</a:t>
            </a:r>
          </a:p>
          <a:p xmlns:a="http://schemas.openxmlformats.org/drawingml/2006/main">
            <a:r>
              <a:t>Source: docs/SIH_LIVE_DEMO_SCRIPT.md.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impact is unmeasured. No customers, accuracy, savings or production readiness claim.</a:t>
            </a:r>
          </a:p>
          <a:p xmlns:a="http://schemas.openxmlformats.org/drawingml/2006/main">
            <a:r>
              <a:t>Source: docs/roadmap.md; docs/limitations.md.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exactly: HELIOS does not replace the doctor. It gives the doctor a clearer story, before the consultation begins. Turn patient waiting time into clinical intelligence.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9c85a035945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ec07593414cee" /><Relationship Type="http://schemas.openxmlformats.org/officeDocument/2006/relationships/slideLayout" Target="/ppt/slideLayouts/slideLayout1.xml" Id="R1c44d4bdbe2b48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44d4bdbe2b48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438cd9b374f07" /><Relationship Type="http://schemas.openxmlformats.org/officeDocument/2006/relationships/notesSlide" Target="/ppt/notesSlides/notesSlide1.xml" Id="R0150e342f5b9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b35ba38d3448b" /><Relationship Type="http://schemas.openxmlformats.org/officeDocument/2006/relationships/notesSlide" Target="/ppt/notesSlides/notesSlide2.xml" Id="R0b267a1550574a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fd19c81da488c" /><Relationship Type="http://schemas.openxmlformats.org/officeDocument/2006/relationships/notesSlide" Target="/ppt/notesSlides/notesSlide3.xml" Id="Rcabad8bd1fcf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020ab64914067" /><Relationship Type="http://schemas.openxmlformats.org/officeDocument/2006/relationships/notesSlide" Target="/ppt/notesSlides/notesSlide4.xml" Id="R06b7d675f5c841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885bb7025411b" /><Relationship Type="http://schemas.openxmlformats.org/officeDocument/2006/relationships/notesSlide" Target="/ppt/notesSlides/notesSlide5.xml" Id="R515a4e44dd7445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40e4dbb448b7" /><Relationship Type="http://schemas.openxmlformats.org/officeDocument/2006/relationships/notesSlide" Target="/ppt/notesSlides/notesSlide6.xml" Id="Rf21864207da445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826fefdbb48d5" /><Relationship Type="http://schemas.openxmlformats.org/officeDocument/2006/relationships/notesSlide" Target="/ppt/notesSlides/notesSlide7.xml" Id="R59d43aea8af440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884ba20a8407b" /><Relationship Type="http://schemas.openxmlformats.org/officeDocument/2006/relationships/notesSlide" Target="/ppt/notesSlides/notesSlide8.xml" Id="Rdc4da2c420674a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c189165c64756" /><Relationship Type="http://schemas.openxmlformats.org/officeDocument/2006/relationships/notesSlide" Target="/ppt/notesSlides/notesSlide9.xml" Id="R6df01000a12343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9e73dbb4846b5" /><Relationship Type="http://schemas.openxmlformats.org/officeDocument/2006/relationships/notesSlide" Target="/ppt/notesSlides/notesSlide10.xml" Id="R082ddd2e02af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e251c8b2a4e56" /><Relationship Type="http://schemas.openxmlformats.org/officeDocument/2006/relationships/notesSlide" Target="/ppt/notesSlides/notesSlide11.xml" Id="Rc6739871769e41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2a2d987364585" /><Relationship Type="http://schemas.openxmlformats.org/officeDocument/2006/relationships/notesSlide" Target="/ppt/notesSlides/notesSlide12.xml" Id="R8e93174842cd43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7659a46f74f38" /><Relationship Type="http://schemas.openxmlformats.org/officeDocument/2006/relationships/notesSlide" Target="/ppt/notesSlides/notesSlide13.xml" Id="Rfd853583c73a4c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2e7a393154a9c" /><Relationship Type="http://schemas.openxmlformats.org/officeDocument/2006/relationships/notesSlide" Target="/ppt/notesSlides/notesSlide14.xml" Id="R6ec5941506b945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dd7d700e44512" /><Relationship Type="http://schemas.openxmlformats.org/officeDocument/2006/relationships/notesSlide" Target="/ppt/notesSlides/notesSlide15.xml" Id="Ra4998386ab7e4c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489669bda419c" /><Relationship Type="http://schemas.openxmlformats.org/officeDocument/2006/relationships/notesSlide" Target="/ppt/notesSlides/notesSlide16.xml" Id="Rbd8632e127044b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a4db2bdef4d90" /><Relationship Type="http://schemas.openxmlformats.org/officeDocument/2006/relationships/notesSlide" Target="/ppt/notesSlides/notesSlide17.xml" Id="R5b2f42669e294b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f34e03bc94c00" /><Relationship Type="http://schemas.openxmlformats.org/officeDocument/2006/relationships/notesSlide" Target="/ppt/notesSlides/notesSlide18.xml" Id="Rdbcdb8d93228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6CDAE-A0B2-4373-9F4F-293F625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8E65D-1AFE-4B92-A6AD-0501CBB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2B5DE-ABBB-4C00-8F61-F95A5567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5F8F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5F8F4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04DD0-6C10-47F6-8FB4-A1FDA542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2F7A3-4C43-4D86-B4B9-D2AAA40F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EC9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C9D3"/>
                </a:solidFill>
                <a:latin typeface="Arial"/>
                <a:ea typeface="Arial"/>
                <a:cs typeface="Arial"/>
              </a:rPr>
              <a:t>SIH  ·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719219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D79C0-DA8C-4CC6-ABCF-2A3A90E8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79C06-018F-4D35-8474-F540CEE1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story arrives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F8F0F-9384-4518-B32B-CC024B4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7C839-9F32-43AD-865C-D99B36BE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4981C-692D-4F12-88CE-511AAB2D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41B89-4C7E-4CCC-A475-64CA4499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30B8-9BE2-4DC0-81FC-043877E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C54C7-B3A8-43B7-8E6C-4A5CB73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Waiting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2B54E-6155-4FA0-9364-10E5B83A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The patient is available before the consultation.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448BE-A99C-4E2C-A074-32136AFE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11E8E-EC0B-483D-A7ED-A81E57C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5F860-A229-48AC-83EC-2DD7F87B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Scattered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CA127-6FCF-4AB5-ABE9-6189CC3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Symptoms, old reports, dates and medicines sit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27E62-49D5-49D6-AFDD-4EEDD27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4860C-89E7-4434-81CF-CF16285A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1C296-B67D-4A88-A4B1-3C6D0986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3E93D-B8AC-48EF-B5F4-D51F6BF4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Natural wording can be hard to capture in fixed fields.</a:t>
            </a:r>
          </a:p>
        </p:txBody>
      </p:sp>
    </p:spTree>
    <p:extLst>
      <p:ext uri="{BB962C8B-B14F-4D97-AF65-F5344CB8AC3E}">
        <p14:creationId xmlns:p14="http://schemas.microsoft.com/office/powerpoint/2010/main" val="43311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5377C-0C96-4B0E-B3AA-372C1CFF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4D6AE-1058-4829-B642-A86256DD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Forms collect answers. Clinicians need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FEC6-870F-4D48-BDF6-135DE992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5AAA4-FF7B-4013-B183-EDC5B08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827A-5197-42FE-BB98-07FD1D5A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8D97F-2B20-40C8-A64A-36CF910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AE008-C412-46E4-B318-9BD7565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5F411-C53B-4D80-B026-774BF08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encounter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2E4D3-8A13-4514-A63C-0D52723C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field captures today, not the trajectory.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A43C2-67A9-4673-8E67-BFEAFD21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8FDFD-E51B-409D-B819-6571E88D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4FA0C-6F57-4734-A127-B95568B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70044-31E5-42A7-A9E1-5E775DAC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document candidate needs its source and review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CBF28-0C01-4B81-9D16-C2D2D4E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D6970-92D6-4F4F-A56C-C32F1F2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D338F-08FA-4A40-8ACD-B518388D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Change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8AD50-F5ED-4D78-B0C4-08CDA67A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Prior versus current should be visible to the doctor.</a:t>
            </a:r>
          </a:p>
        </p:txBody>
      </p:sp>
    </p:spTree>
    <p:extLst>
      <p:ext uri="{BB962C8B-B14F-4D97-AF65-F5344CB8AC3E}">
        <p14:creationId xmlns:p14="http://schemas.microsoft.com/office/powerpoint/2010/main" val="1640090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94254-43A7-4AEA-B023-B110AAEF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5081E-81F5-47C2-88B2-0F4FF363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Intake becomes a doctor-ready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99F85-0352-4AD5-A84A-CC40A318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F11B9-3BF5-4FC6-96DE-C415738F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C75E7-24B0-46DC-AE9E-0F6E5215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48F08-CD4A-4C75-BDE7-F078DCB8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D97CB-A99F-4B59-8B66-1A392383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7D690-B27B-4D3C-9B93-023DF9B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5A694-1BFD-40EB-966A-48673C8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C53E9-D447-4590-A994-8EABCA7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Source-labelled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53094-B6B3-46CC-A6E1-F41A140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93DD3-10EF-48D4-B956-7B8C67B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2D9CA-D183-45A8-888A-B3B2161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 +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18BE6-A5C8-40BE-8ED9-F6D1EAF1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85E2B-C5F5-4109-8D74-398D4600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74AA2-C79C-4B7F-902C-06E3C9B9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5D30A-53B1-461A-B4E1-D0DB1E65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The doctor remains the final clinical decision-maker.</a:t>
            </a:r>
          </a:p>
        </p:txBody>
      </p:sp>
    </p:spTree>
    <p:extLst>
      <p:ext uri="{BB962C8B-B14F-4D97-AF65-F5344CB8AC3E}">
        <p14:creationId xmlns:p14="http://schemas.microsoft.com/office/powerpoint/2010/main" val="1839862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650EC-9A08-473E-99DE-B8C87B6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0336D-6D10-49CE-99B1-F46E3081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patient speaks naturally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BC9FA-7BA5-486C-80FE-44241160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6E2DF-9897-4BA5-BEBD-416C1EC3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44E57-9809-4A01-8F9E-EF873EB2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A3949-AFD2-4E43-8F8C-B45FBE58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F7782-8397-4EF5-824F-D286F809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3D2FA-BFC3-4B98-B7A1-B38FA86A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 Consent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CDA03-DC64-42C5-8726-38A6AD53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Choose English or Hindi before clinical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BD4D2-4D15-4E70-9CF5-E23581F2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D9CC7-4DB0-4F81-A51B-C6D51DF9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41BB2-326C-408D-A695-677ED8A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  Describe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ED386-A6F5-4BAF-88ED-DBAFDCFB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Speak or type; answer adaptive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7F8E8-B145-4001-86D3-CDE1D37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C9828-F3EB-419C-A1A7-27A36BA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FD495-61AC-47B2-A83D-2407280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EA6D3-07DA-4435-A07E-048C7245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Check document candidates, submit and receive a token.</a:t>
            </a:r>
          </a:p>
        </p:txBody>
      </p:sp>
    </p:spTree>
    <p:extLst>
      <p:ext uri="{BB962C8B-B14F-4D97-AF65-F5344CB8AC3E}">
        <p14:creationId xmlns:p14="http://schemas.microsoft.com/office/powerpoint/2010/main" val="1618873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E071C-1726-4ED3-9615-EC143FC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FC4DF-193A-4810-A57A-8FC63C14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transparent processing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35955-86E4-4CAD-8F3F-DCB53375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1E08B-9D4E-41F5-8976-B13A9B7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63B79-009F-4D14-BC00-D3092B7D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5DE12-37AE-498F-A8A3-4F39FC5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608F5-1FDF-4232-8D93-6D4E80BE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Confirmed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AADEF-049D-4B10-AD94-262453BE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FD005-B15C-4E3D-B8B9-4A1C9B31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386BB-9F0C-4070-A261-F6724D10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Interview +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4EEB1-6D2C-4299-825E-D10A8667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FCC60-5617-4311-BB0F-A92183D0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E0900-7067-438C-8935-97E946F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FD413-2ABD-4745-8DFE-9D76FEF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8EA34-7B82-4CE3-AAAA-9CDB89F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A458A-8D63-4CC9-9695-A51E4C9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Comparison +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23BAC-22FD-4DF3-8B2D-BAEB11C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C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C96"/>
                </a:solidFill>
                <a:latin typeface="Arial"/>
                <a:ea typeface="Arial"/>
                <a:cs typeface="Arial"/>
              </a:rPr>
              <a:t>AI adapters assist  ·  Deterministic services govern  ·  Doctor verifies</a:t>
            </a:r>
          </a:p>
        </p:txBody>
      </p:sp>
    </p:spTree>
    <p:extLst>
      <p:ext uri="{BB962C8B-B14F-4D97-AF65-F5344CB8AC3E}">
        <p14:creationId xmlns:p14="http://schemas.microsoft.com/office/powerpoint/2010/main" val="1251110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3A23B-E717-4DBB-990F-253A68AA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41AA8-7E24-4C00-BA8D-8F549DD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doctor sees the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7278F-DDE5-4650-A49D-7BF33892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D2C8-0685-4613-B395-704E9C79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B4554-37E5-4CB4-8A19-A56F49F2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48D48-B4D6-4A5C-9733-7624FE4B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84828-08F2-4DCC-9520-AC6119EB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72B99-DA25-4D4D-9380-06E600C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68CB5-FB67-478B-81D9-5AC371CD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Call, start and complete from persisted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A1044-2EEC-461F-AFCF-1BE145A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89D44-D2D2-44D8-AD38-5A15A10E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88CCB-2A95-485D-ACCD-C3137C5B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59C51-1A0B-4AA2-9021-814E05D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Brief, What Changed, timeline and document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98498-3391-48C0-88FE-0E3DEEC6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C7997-429F-4A84-A8EE-4C36B55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62B31-7FA0-4AE0-B54E-F314C51D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4147F-829F-4C9C-8C23-05FDD08E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Verify, correct, reject or mark uncertain.</a:t>
            </a:r>
          </a:p>
        </p:txBody>
      </p:sp>
    </p:spTree>
    <p:extLst>
      <p:ext uri="{BB962C8B-B14F-4D97-AF65-F5344CB8AC3E}">
        <p14:creationId xmlns:p14="http://schemas.microsoft.com/office/powerpoint/2010/main" val="1828189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E5B1E-3E37-4EC4-9F72-0DDB62A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6F306-72F8-43EB-B003-EB7D798E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Innovation is the connected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3A225-D940-4F5B-B6DC-8AC088F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5D263-7FBC-477F-B56D-B33A37BD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5323A-3263-4619-A691-A92EF4C2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95005-007F-4F62-9110-B04F9CF1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5C1B8-392A-478D-8F7A-8140523A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F0E85-0E91-4A58-906C-0B969259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visit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FBCF3-E64C-4D49-8D98-E015C37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Multilingual consented intake + real token.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5BB21-2067-4095-BDFB-EB0EEA4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111D8-377F-4AF8-9791-D79635DE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B1A3A-BED4-4DDD-A9E7-A71F075D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visits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97322-AB58-4F44-A672-8F10C37E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Evidence-linked timeline and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6EA50-0E13-458B-9CF8-61B498DD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5DF1-DE2D-41DD-8EA3-4DD50F55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3FE10-D9AD-4148-90EC-648B0B2E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At the doctor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B99CD-F7C0-4CE1-B5B5-42050664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Concise brief plus explicit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818227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79F16-FDD4-4DD7-9425-DB5FEF3A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58862-CEA4-465B-8F12-807F4BAD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authority stays with the doctor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768DA-60E3-48EE-8189-B03E77CB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1FB50-2179-4FBA-9C6C-00EE124A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7BACF-26B1-41C0-87D4-751431F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0F4B6-5A1B-40F1-B264-3B998F26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29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335CE-FA4C-4507-A96D-8B508AB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265C8-8428-4B2A-814F-46620FD6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2BB53-C7C6-4118-ACEF-5DDF3F3E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 provenance, uncertainty, doctor verification and controlled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370C0-FD3B-4A3C-A7ED-16E98574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5448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35464-87D6-4E98-AFC2-FC48D217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1F654-DA52-4F28-BD7F-6AFB01FC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5742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— not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D11EB-8DAE-4A22-BC5D-53C47854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Clinician-approved, versioned SafetyEngine with testing and governance.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FC4C3-29D1-4098-8052-82F7A52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No automated clinical safety signal is claimed.</a:t>
            </a:r>
          </a:p>
        </p:txBody>
      </p:sp>
    </p:spTree>
    <p:extLst>
      <p:ext uri="{BB962C8B-B14F-4D97-AF65-F5344CB8AC3E}">
        <p14:creationId xmlns:p14="http://schemas.microsoft.com/office/powerpoint/2010/main" val="2134195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20D34-BB5F-40BD-BD7C-4EF8A14E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6D1D6-86F1-4448-9A64-D4DAFDD8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backend. Two protected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6DB62-985B-46C3-8FFF-0037110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7AEAE-A3B3-4F35-919B-7FD9D82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A22D8-214D-467D-987A-F3121831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83602-23A2-4456-B87D-468ACA83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A2447-4B29-4567-8348-370F78B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91515-961B-4CB3-968A-7017707F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03E25-DC27-4651-AD7B-59E87244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Signed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E0B47-93F2-4510-9F61-C8D267F9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6C6D4-59EE-4397-B7B6-99CCB6C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136B5-7E03-478A-97BE-3D0CE1A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routes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2C407-AF7E-457D-AEC6-1F40B80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Signed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98A21-4F42-40EF-BF04-6B004C0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2E7BD-DD9D-4D60-90CA-E9E48B02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95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AB015-B555-41D0-8BC0-618DF68C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29146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B498F-28FA-407A-B209-BE7B78BC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76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45554-A58F-4565-8A7D-5E640233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1462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F26D0-A28A-49F4-A1BE-340266B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71825"/>
            <a:ext cx="2419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Object checks + domain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09571-B32A-4F53-BA86-B946DB88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95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9D3E2-EB32-42FD-BE1F-D79F207C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35814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FF43A-104D-405E-861A-ADDFF110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76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420F4-9126-4E86-977B-09EB6DD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1462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53EF7-1AE2-479B-938C-406AA663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71825"/>
            <a:ext cx="308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Accessed via Prisma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DDF26-65B9-41E9-9205-2D46A495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API also reaches private local storage and bounded provider adapters.</a:t>
            </a:r>
          </a:p>
        </p:txBody>
      </p:sp>
    </p:spTree>
    <p:extLst>
      <p:ext uri="{BB962C8B-B14F-4D97-AF65-F5344CB8AC3E}">
        <p14:creationId xmlns:p14="http://schemas.microsoft.com/office/powerpoint/2010/main" val="884882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9C819-9F8A-4230-9B29-C9449950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84C55-3128-4C91-B5A6-20A24BA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and AYUSH stay source-aware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87155-9183-4A6F-ACF5-F168108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1B0E1-4032-42AC-86D0-1D42C526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419F-B2FC-4159-A75F-EE40BC2C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7CECB-59C1-4A71-BD17-3A4EBFE2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5A560-427F-4C05-A112-C89E5AC7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BA64B-FA4D-48B8-B133-CD6938C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English + Hindi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4B22A-DACE-4CEE-89CE-05E4686E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Patient-facing UI and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E0970-C31A-4C4B-931F-FF804E3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2CA5E-04FA-423F-9DE4-8726398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7365A-FD5B-496C-8799-47A3228A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Original wording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FDE8F-37D0-4F64-AD6E-1417045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Preserved beside normalized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28B41-4435-4D47-B8A9-F7058EB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9E1A1-0A8C-4A79-A522-33E4397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7EADF-A0DE-442C-8225-B686E84F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AYUSH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AC48B-BED3-4D1B-B018-A192579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System, treatment, timing and evidence in the record.</a:t>
            </a:r>
          </a:p>
        </p:txBody>
      </p:sp>
    </p:spTree>
    <p:extLst>
      <p:ext uri="{BB962C8B-B14F-4D97-AF65-F5344CB8AC3E}">
        <p14:creationId xmlns:p14="http://schemas.microsoft.com/office/powerpoint/2010/main" val="156786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3BA3C-0E13-4EA8-A8EF-2AC61853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D844-B6AE-410B-9BEA-D5252A59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Documents add evidence, not automatic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80602-A404-471B-8843-EF1D246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E4B2C-299E-4000-A633-0D8E988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E19E2-84E2-4DF3-95AD-7B04AF20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64597-4D97-4418-B0AE-CB0B28F5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571DC-9045-4EF3-8724-23A30999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Validated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8D99E-1D44-4BF6-9F4E-E1704F9A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2DC02-B47D-4501-B847-885C080A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26CFF-05DC-4401-AE74-FAE2466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Mock/local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55916-0F1B-41C0-9E2A-D911B91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70DC9-AB2D-46D6-B40D-AE5EB75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15F10-7840-4393-A9C9-A0D445A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Page-linked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FAC3C-950D-4971-9D65-424CD97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E7283-1DA2-4B99-B3DA-1F8D1F5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6D901-D1B3-4AFB-9288-08828E27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+ doctor review</a:t>
            </a:r>
          </a:p>
        </p:txBody>
      </p:sp>
    </p:spTree>
    <p:extLst>
      <p:ext uri="{BB962C8B-B14F-4D97-AF65-F5344CB8AC3E}">
        <p14:creationId xmlns:p14="http://schemas.microsoft.com/office/powerpoint/2010/main" val="494249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65601-B9CB-41BD-B018-0D6EFC1A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C1546-606D-490D-A5B5-3854A3D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→ current →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D832C-0711-4C90-95A9-07E5383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BF712-C93B-4C89-AA67-46DEAA4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A948F-81DF-424F-B379-5FC73460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05BF4-705D-4791-8E5A-372E7754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60EB4-B65D-4973-966C-9946D8F1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95CAB-5282-4D7D-AA21-0FA2246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D8E8F-5EF7-4756-AAE1-186ED75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Source-labelled events across visits.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6611D-8053-4947-856D-B93A005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41299-203A-460F-B09A-6E024A9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E597E-6BCC-4065-B72C-15D6406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9BC6E-4620-4580-B0A1-3E6F445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Snapshot comparison highlights differences.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E83A4-1E51-479C-B29A-FF29EC00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B25BC-7498-4A1A-834A-E5D00122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6577A-0BD9-4E49-A5A9-5447438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5613D-FE38-4875-A413-F1E34515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Short, versioned context for doctor review.</a:t>
            </a:r>
          </a:p>
        </p:txBody>
      </p:sp>
    </p:spTree>
    <p:extLst>
      <p:ext uri="{BB962C8B-B14F-4D97-AF65-F5344CB8AC3E}">
        <p14:creationId xmlns:p14="http://schemas.microsoft.com/office/powerpoint/2010/main" val="561754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E38D2-1315-4259-9F8D-768AC1BF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9AE69-C5BF-454E-8E1D-7031B40C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queue makes intake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5F172-C479-4D19-99E8-FEDD99EF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4AB07-1E96-4506-896E-DF49B7D9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D1A15-3289-4F79-A14C-061EB01A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17BCB-B800-457C-9B9B-942EC8E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143EC-5C8B-42B8-BA4A-7DF06AA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 + check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A8C65-6730-4213-9EF2-80D7601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45E31-E291-4920-B249-31410AAE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545B2-D9B7-44FB-BF23-D7F11769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6F202-AC3C-4076-9B22-CFDA6632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3B7A3-50FD-4F2B-A39D-57FBC12C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47D1A-478C-4B26-8EB7-CEBBF2B7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26319-53F4-43C5-A7EB-2967743E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2026D-C45B-499F-9A19-8FE8F12B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2D885-2757-430B-96DA-B008DCD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sees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71E63-ED28-440E-92A7-A6F92D3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Queue priority is not a clinical risk signal.</a:t>
            </a:r>
          </a:p>
        </p:txBody>
      </p:sp>
    </p:spTree>
    <p:extLst>
      <p:ext uri="{BB962C8B-B14F-4D97-AF65-F5344CB8AC3E}">
        <p14:creationId xmlns:p14="http://schemas.microsoft.com/office/powerpoint/2010/main" val="10189230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FB4B0-AF75-43CB-B292-0F789DC8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C5E2F-B4C8-4A33-8776-F05CAF7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Access is checked at the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9B113-F643-4AEC-AB6B-E86DA3E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F109-CC9A-47AF-94B2-16AC2AB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8605F-E8AD-4D2D-9608-51FD6988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E949B-5FCD-407A-8DD6-5B92F8B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4D0F6-2D13-4FF4-9BF2-789E3469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5D545-D758-4A62-9771-4997CD5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A5B61-1D6D-4AAC-AF5E-E9119F5D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Ownership checked on every patient object.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CDD62-8F8D-4B0B-AD22-C4A3D0F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8B96A-E489-44B6-80AB-BACE77B0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9E03F-1B22-425B-8B4E-E5456528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C8FFD-6B4D-4B92-A46F-8CF38F37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Role/assignment checks gate workspace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8F212-E533-4584-A2B6-E2EC6E41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5DC2F-B4E8-4755-979C-9A0833C7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7576E-F7B8-4909-9222-676994B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 guard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6AC6A-FEC5-4D78-A108-53D6D04E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Reset restricted to local synthetic database.</a:t>
            </a:r>
          </a:p>
        </p:txBody>
      </p:sp>
    </p:spTree>
    <p:extLst>
      <p:ext uri="{BB962C8B-B14F-4D97-AF65-F5344CB8AC3E}">
        <p14:creationId xmlns:p14="http://schemas.microsoft.com/office/powerpoint/2010/main" val="2140833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0AA23-B5C3-4C5F-B7AA-EB8B4657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50BE6-B452-4391-A607-4A9827A2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Live demo: follow one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62CCE-3518-4192-9732-084DE5C6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3D7A0-F2EE-41CA-9D1E-D57C3E74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B77C3-FCA9-45BB-9046-6E36E1B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145E9-3CC1-4374-9E36-1F15ACD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EDE1E-F8D0-4235-99CA-C4593D07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Hindi + typed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56C2E-EC18-4B55-B753-8C19465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4C4F0-A470-46A2-BCF7-D0178DC6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E1341-2472-46FD-B393-1AAA858A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3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Questions +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0394A-31BF-4015-A554-14B19D8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3FB80-AD78-485B-A096-C34EDD00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4F0FF-35B5-454D-9503-87EBF64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F07D6-1A9F-4B1D-8016-2372DA0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76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8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0B19-A687-4185-B5A2-6E69938B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24098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77D8E-D9CE-4291-8E10-9F5D23E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95600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C0B59-13CD-4481-88E8-C9CE295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Synthetic data  ·  Backend state  · 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508972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42918-9611-4C52-8C9A-6501CE5E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16027-7B9B-45F6-BED0-6DEAFD7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 is a prototype. Next is clinical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475E-1F4F-4A71-AFE6-DF3CB82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62375-DFD5-4C4C-AFA5-37247EB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EF723-2B68-469F-9D63-2B232E2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7FE0A-6A21-425E-8496-3963AB0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0292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6C9ED-B6F4-4742-9BF9-A7390EE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F08EA-2711-4EEC-AFA5-02FDCBE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IMPLEMENTED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C3CE6-4E48-40CB-B7D1-B14410B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5339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Intake, provenance, timeline, comparison, brief, queue, verification and guarded synthetic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F1377-0DE8-4DC7-9306-C0921422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4483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0ABDA-10AC-4B0E-BB29-2511591D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2F57D-9570-463C-A654-1A1FD6DD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5ED84-A201-4169-A7B1-9FFE0712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Clinical SafetyEngine; production identity and retention; provider and full-browser clinical evaluation.</a:t>
            </a:r>
          </a:p>
        </p:txBody>
      </p:sp>
    </p:spTree>
    <p:extLst>
      <p:ext uri="{BB962C8B-B14F-4D97-AF65-F5344CB8AC3E}">
        <p14:creationId xmlns:p14="http://schemas.microsoft.com/office/powerpoint/2010/main" val="4801833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104D5-B4B9-4252-A149-093FD8C0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56E59-9CAE-4EFD-9CA3-A835317E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A clearer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DE879-094B-4B79-9259-59BB7CEA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D8F3E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D8F3EF"/>
                </a:solidFill>
                <a:latin typeface="Arial"/>
                <a:ea typeface="Arial"/>
                <a:cs typeface="Arial"/>
              </a:rPr>
              <a:t>before the consultation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80458-6ECD-4C06-9B49-EEC64ED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30FA3-DB48-453F-9A28-45C7B5A5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 does not replace the doctor.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9A937-29D3-4896-BE58-2123288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D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DDE0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976349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2026-09-14T20:44:09.5690000Z</dcterms:created>
  <dcterms:modified xsi:type="dcterms:W3CDTF">2026-09-14T20:44:09.5690000Z</dcterms:modified>
</coreProperties>
</file>