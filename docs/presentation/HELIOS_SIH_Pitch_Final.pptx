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398f1eeb02428a" /><Relationship Type="http://schemas.openxmlformats.org/officeDocument/2006/relationships/extended-properties" Target="/docProps/app.xml" Id="R2156444ba68042a4" /><Relationship Type="http://schemas.openxmlformats.org/officeDocument/2006/relationships/officeDocument" Target="/ppt/presentation.xml" Id="R4d4f22c9b56c47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96ae1e8b2848a0"/>
  </p:sldMasterIdLst>
  <p:notesMasterIdLst>
    <p:notesMasterId xmlns:r="http://schemas.openxmlformats.org/officeDocument/2006/relationships" r:id="Rb7f8fea50b064def"/>
  </p:notesMasterIdLst>
  <p:sldIdLst>
    <p:sldId xmlns:r="http://schemas.openxmlformats.org/officeDocument/2006/relationships" id="256" r:id="Rd89347ff30314238"/>
    <p:sldId xmlns:r="http://schemas.openxmlformats.org/officeDocument/2006/relationships" id="257" r:id="R188c093155c8426f"/>
    <p:sldId xmlns:r="http://schemas.openxmlformats.org/officeDocument/2006/relationships" id="258" r:id="R4727de9ecaf1453d"/>
    <p:sldId xmlns:r="http://schemas.openxmlformats.org/officeDocument/2006/relationships" id="259" r:id="R83fea09e45674867"/>
    <p:sldId xmlns:r="http://schemas.openxmlformats.org/officeDocument/2006/relationships" id="260" r:id="Rc82ec84046d64684"/>
    <p:sldId xmlns:r="http://schemas.openxmlformats.org/officeDocument/2006/relationships" id="261" r:id="Re5a982c877244d67"/>
    <p:sldId xmlns:r="http://schemas.openxmlformats.org/officeDocument/2006/relationships" id="262" r:id="R4ea2949370f74ed5"/>
    <p:sldId xmlns:r="http://schemas.openxmlformats.org/officeDocument/2006/relationships" id="263" r:id="Rdde7916725ad426d"/>
    <p:sldId xmlns:r="http://schemas.openxmlformats.org/officeDocument/2006/relationships" id="264" r:id="R677f1096f28042d8"/>
    <p:sldId xmlns:r="http://schemas.openxmlformats.org/officeDocument/2006/relationships" id="265" r:id="R97298d2bd4764c54"/>
    <p:sldId xmlns:r="http://schemas.openxmlformats.org/officeDocument/2006/relationships" id="266" r:id="Ra08919c404ab4322"/>
    <p:sldId xmlns:r="http://schemas.openxmlformats.org/officeDocument/2006/relationships" id="267" r:id="R7a947bddd8d54ed3"/>
    <p:sldId xmlns:r="http://schemas.openxmlformats.org/officeDocument/2006/relationships" id="268" r:id="R12ebfe8f58f748a8"/>
    <p:sldId xmlns:r="http://schemas.openxmlformats.org/officeDocument/2006/relationships" id="269" r:id="Rf53b08d076fd49e4"/>
    <p:sldId xmlns:r="http://schemas.openxmlformats.org/officeDocument/2006/relationships" id="270" r:id="R7993d0b94cdb4870"/>
    <p:sldId xmlns:r="http://schemas.openxmlformats.org/officeDocument/2006/relationships" id="271" r:id="Refeb02e9c9c64613"/>
    <p:sldId xmlns:r="http://schemas.openxmlformats.org/officeDocument/2006/relationships" id="272" r:id="R7b64ec11f92a46f4"/>
    <p:sldId xmlns:r="http://schemas.openxmlformats.org/officeDocument/2006/relationships" id="273" r:id="Rafecc8d6b1e74b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8cf03f873d41c1" /><Relationship Type="http://schemas.openxmlformats.org/officeDocument/2006/relationships/slideMaster" Target="/ppt/slideMasters/slideMaster1.xml" Id="R0c96ae1e8b2848a0" /><Relationship Type="http://schemas.openxmlformats.org/officeDocument/2006/relationships/notesMaster" Target="/ppt/notesMasters/notesMaster1.xml" Id="Rb7f8fea50b064def" /><Relationship Type="http://schemas.openxmlformats.org/officeDocument/2006/relationships/presProps" Target="/ppt/presProps.xml" Id="R16d7fd0427c948b9" /><Relationship Type="http://schemas.openxmlformats.org/officeDocument/2006/relationships/tableStyles" Target="/ppt/tableStyles.xml" Id="Rd92618c7c8d24ff2" /><Relationship Type="http://schemas.openxmlformats.org/officeDocument/2006/relationships/slide" Target="/ppt/slides/slide1.xml" Id="Rd89347ff30314238" /><Relationship Type="http://schemas.openxmlformats.org/officeDocument/2006/relationships/slide" Target="/ppt/slides/slide2.xml" Id="R188c093155c8426f" /><Relationship Type="http://schemas.openxmlformats.org/officeDocument/2006/relationships/slide" Target="/ppt/slides/slide3.xml" Id="R4727de9ecaf1453d" /><Relationship Type="http://schemas.openxmlformats.org/officeDocument/2006/relationships/slide" Target="/ppt/slides/slide4.xml" Id="R83fea09e45674867" /><Relationship Type="http://schemas.openxmlformats.org/officeDocument/2006/relationships/slide" Target="/ppt/slides/slide5.xml" Id="Rc82ec84046d64684" /><Relationship Type="http://schemas.openxmlformats.org/officeDocument/2006/relationships/slide" Target="/ppt/slides/slide6.xml" Id="Re5a982c877244d67" /><Relationship Type="http://schemas.openxmlformats.org/officeDocument/2006/relationships/slide" Target="/ppt/slides/slide7.xml" Id="R4ea2949370f74ed5" /><Relationship Type="http://schemas.openxmlformats.org/officeDocument/2006/relationships/slide" Target="/ppt/slides/slide8.xml" Id="Rdde7916725ad426d" /><Relationship Type="http://schemas.openxmlformats.org/officeDocument/2006/relationships/slide" Target="/ppt/slides/slide9.xml" Id="R677f1096f28042d8" /><Relationship Type="http://schemas.openxmlformats.org/officeDocument/2006/relationships/slide" Target="/ppt/slides/slide10.xml" Id="R97298d2bd4764c54" /><Relationship Type="http://schemas.openxmlformats.org/officeDocument/2006/relationships/slide" Target="/ppt/slides/slide11.xml" Id="Ra08919c404ab4322" /><Relationship Type="http://schemas.openxmlformats.org/officeDocument/2006/relationships/slide" Target="/ppt/slides/slide12.xml" Id="R7a947bddd8d54ed3" /><Relationship Type="http://schemas.openxmlformats.org/officeDocument/2006/relationships/slide" Target="/ppt/slides/slide13.xml" Id="R12ebfe8f58f748a8" /><Relationship Type="http://schemas.openxmlformats.org/officeDocument/2006/relationships/slide" Target="/ppt/slides/slide14.xml" Id="Rf53b08d076fd49e4" /><Relationship Type="http://schemas.openxmlformats.org/officeDocument/2006/relationships/slide" Target="/ppt/slides/slide15.xml" Id="R7993d0b94cdb4870" /><Relationship Type="http://schemas.openxmlformats.org/officeDocument/2006/relationships/slide" Target="/ppt/slides/slide16.xml" Id="Refeb02e9c9c64613" /><Relationship Type="http://schemas.openxmlformats.org/officeDocument/2006/relationships/slide" Target="/ppt/slides/slide17.xml" Id="R7b64ec11f92a46f4" /><Relationship Type="http://schemas.openxmlformats.org/officeDocument/2006/relationships/slide" Target="/ppt/slides/slide18.xml" Id="Rafecc8d6b1e74b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a2c06508d143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dd7e59699f48d4" /><Relationship Type="http://schemas.openxmlformats.org/officeDocument/2006/relationships/notesMaster" Target="/ppt/notesMasters/notesMaster1.xml" Id="R7ff100ae9e5346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d04d700a864cfd" /><Relationship Type="http://schemas.openxmlformats.org/officeDocument/2006/relationships/notesMaster" Target="/ppt/notesMasters/notesMaster1.xml" Id="R6fce7f522c5145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165e2d7a9d46e4" /><Relationship Type="http://schemas.openxmlformats.org/officeDocument/2006/relationships/notesMaster" Target="/ppt/notesMasters/notesMaster1.xml" Id="R8e50ba1623a54d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18df34586e4461" /><Relationship Type="http://schemas.openxmlformats.org/officeDocument/2006/relationships/notesMaster" Target="/ppt/notesMasters/notesMaster1.xml" Id="R22440695fc7745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b68fe1a002493b" /><Relationship Type="http://schemas.openxmlformats.org/officeDocument/2006/relationships/notesMaster" Target="/ppt/notesMasters/notesMaster1.xml" Id="R2ede943c2c2448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ec4738baf54c22" /><Relationship Type="http://schemas.openxmlformats.org/officeDocument/2006/relationships/notesMaster" Target="/ppt/notesMasters/notesMaster1.xml" Id="Rd8be3e0fb58541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0cef9af2f848de" /><Relationship Type="http://schemas.openxmlformats.org/officeDocument/2006/relationships/notesMaster" Target="/ppt/notesMasters/notesMaster1.xml" Id="R06a7d088c4d541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65a10e46c54cc5" /><Relationship Type="http://schemas.openxmlformats.org/officeDocument/2006/relationships/notesMaster" Target="/ppt/notesMasters/notesMaster1.xml" Id="Rff734f243e6349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e27733d61343e7" /><Relationship Type="http://schemas.openxmlformats.org/officeDocument/2006/relationships/notesMaster" Target="/ppt/notesMasters/notesMaster1.xml" Id="R23217a09eca045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420dd020074e97" /><Relationship Type="http://schemas.openxmlformats.org/officeDocument/2006/relationships/notesMaster" Target="/ppt/notesMasters/notesMaster1.xml" Id="R5f24f38864ab4d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80d27a5b9d4df9" /><Relationship Type="http://schemas.openxmlformats.org/officeDocument/2006/relationships/notesMaster" Target="/ppt/notesMasters/notesMaster1.xml" Id="R9e8d1584fe214a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2af3494ef547b7" /><Relationship Type="http://schemas.openxmlformats.org/officeDocument/2006/relationships/notesMaster" Target="/ppt/notesMasters/notesMaster1.xml" Id="R8ef5989e09e647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f732e5b00d4fe2" /><Relationship Type="http://schemas.openxmlformats.org/officeDocument/2006/relationships/notesMaster" Target="/ppt/notesMasters/notesMaster1.xml" Id="R018e06332fd048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cd13d43a894986" /><Relationship Type="http://schemas.openxmlformats.org/officeDocument/2006/relationships/notesMaster" Target="/ppt/notesMasters/notesMaster1.xml" Id="R42652884988143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9188cf9ff04341" /><Relationship Type="http://schemas.openxmlformats.org/officeDocument/2006/relationships/notesMaster" Target="/ppt/notesMasters/notesMaster1.xml" Id="Rd93a91347aff45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9e7ce1e48a4df5" /><Relationship Type="http://schemas.openxmlformats.org/officeDocument/2006/relationships/notesMaster" Target="/ppt/notesMasters/notesMaster1.xml" Id="Rf282c6cf509744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e4ab025c704de7" /><Relationship Type="http://schemas.openxmlformats.org/officeDocument/2006/relationships/notesMaster" Target="/ppt/notesMasters/notesMaster1.xml" Id="R8c9c071e0bc84f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4dcdda95311417f" /><Relationship Type="http://schemas.openxmlformats.org/officeDocument/2006/relationships/notesMaster" Target="/ppt/notesMasters/notesMaster1.xml" Id="R5bdeb90898ad4e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HELIOS is consented pre-consultation preparation. Never say AI doctor, diagnosis, or deployment. Source: docs/SIH_README.md; docs/limitations.md.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Qualitative workflow problem only; do not quote invented time savings or prevalence. Ask: where can waiting time be used?</a:t>
            </a:r>
          </a:p>
          <a:p xmlns:a="http://schemas.openxmlformats.org/drawingml/2006/main">
            <a:r>
              <a:t>Source: docs/SIH_PRESENTATION.md.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a one-off form with this connected workflow; do not assert every existing EHR lacks these features.</a:t>
            </a:r>
          </a:p>
          <a:p xmlns:a="http://schemas.openxmlformats.org/drawingml/2006/main">
            <a:r>
              <a:t>Source: docs/SIH_PRESENTATION.md.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Patient input moves through an authorized API into source-aware context; the doctor verifies. No autonomous clinical decisions.</a:t>
            </a:r>
          </a:p>
          <a:p xmlns:a="http://schemas.openxmlformats.org/drawingml/2006/main">
            <a:r>
              <a:t>Source: docs/architecture.md.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English/Hindi UI and bounded Hinglish normalization. Voice is optional; the default demo uses mock speech, so typed input is the reliable live path.</a:t>
            </a:r>
          </a:p>
          <a:p xmlns:a="http://schemas.openxmlformats.org/drawingml/2006/main">
            <a:r>
              <a:t>Source: docs/patient-flow.md; docs/multilingual.md; docs/voice.md.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Default NLU is rules; mock/local OCR; optional providers are bounded. SafetyEngine is not implemented.</a:t>
            </a:r>
          </a:p>
          <a:p xmlns:a="http://schemas.openxmlformats.org/drawingml/2006/main">
            <a:r>
              <a:t>Source: docs/ai-architecture.md; docs/document-ai.md; docs/safety.md.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authorized doctor route tree; evidence and verification history. Avoid measured efficiency claims.</a:t>
            </a:r>
          </a:p>
          <a:p xmlns:a="http://schemas.openxmlformats.org/drawingml/2006/main">
            <a:r>
              <a:t>Source: docs/doctor-workspace.md.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Combination of parts, not unsupported competitor superiority.</a:t>
            </a:r>
          </a:p>
          <a:p xmlns:a="http://schemas.openxmlformats.org/drawingml/2006/main">
            <a:r>
              <a:t>Source: docs/SIH_README.md.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diagnosis, prescription, treatment, emergency screening or all-clear. Priority review badge is operational, not clinical.</a:t>
            </a:r>
          </a:p>
          <a:p xmlns:a="http://schemas.openxmlformats.org/drawingml/2006/main">
            <a:r>
              <a:t>Source: docs/safety.md.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patient and doctor route trees call the authorized Express API. One Next.js web deployment, not two independently deployed apps. HTTP polling, not WebSockets.</a:t>
            </a:r>
          </a:p>
          <a:p xmlns:a="http://schemas.openxmlformats.org/drawingml/2006/main">
            <a:r>
              <a:t>Source: docs/architecture.md.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English/Hindi active; bounded Hinglish. AYUSH data is captured without inferring biomedical equivalence.</a:t>
            </a:r>
          </a:p>
          <a:p xmlns:a="http://schemas.openxmlformats.org/drawingml/2006/main">
            <a:r>
              <a:t>Source: docs/multilingual.md; docs/ayush.md.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 and images validated; mock or local OCR; conservative candidates. Scanned image-only PDFs and handwriting unsupported/unverified.</a:t>
            </a:r>
          </a:p>
          <a:p xmlns:a="http://schemas.openxmlformats.org/drawingml/2006/main">
            <a:r>
              <a:t>Source: docs/document-ai.md.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and What Changed are deterministic longitudinal organization, not clinical diagnosis. Brief is source-aware and reviewable.</a:t>
            </a:r>
          </a:p>
          <a:p xmlns:a="http://schemas.openxmlformats.org/drawingml/2006/main">
            <a:r>
              <a:t>Source: docs/timeline.md; docs/what-changed.md; docs/clinical-brief.md.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Backend-issued daily token; doctor transitions persist; screens poll roughly every eight seconds. A-001 is seeded Aarav only.</a:t>
            </a:r>
          </a:p>
          <a:p xmlns:a="http://schemas.openxmlformats.org/drawingml/2006/main">
            <a:r>
              <a:t>Source: docs/waiting-token.md.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signed proofs, role/object authorization, private file route, validation and audit. No certification or production IdP claim.</a:t>
            </a:r>
          </a:p>
          <a:p xmlns:a="http://schemas.openxmlformats.org/drawingml/2006/main">
            <a:r>
              <a:t>Source: docs/security.md.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Disclose any switch to preseeded Aarav. No live SafetyEngine. Follow docs/SIH_LIVE_DEMO_SCRIPT.md and failure plan.</a:t>
            </a:r>
          </a:p>
          <a:p xmlns:a="http://schemas.openxmlformats.org/drawingml/2006/main">
            <a:r>
              <a:t>Source: docs/SIH_LIVE_DEMO_SCRIPT.md.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Potential impact is unmeasured. No customers, accuracy, savings or production readiness claim.</a:t>
            </a:r>
          </a:p>
          <a:p xmlns:a="http://schemas.openxmlformats.org/drawingml/2006/main">
            <a:r>
              <a:t>Source: docs/roadmap.md; docs/limitations.md.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exactly: HELIOS does not replace the doctor. It gives the doctor a clearer story, before the consultation begins. Turn patient waiting time into clinical intelligence. Source: docs/SIH_README.md; docs/limitations.md.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433f616004f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7c24f98f7a4b40" /><Relationship Type="http://schemas.openxmlformats.org/officeDocument/2006/relationships/slideLayout" Target="/ppt/slideLayouts/slideLayout1.xml" Id="R876b11ed69954a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6b11ed69954a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6300a3cc94625" /><Relationship Type="http://schemas.openxmlformats.org/officeDocument/2006/relationships/notesSlide" Target="/ppt/notesSlides/notesSlide1.xml" Id="Rf1ff64605de443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a7e56e5a44945" /><Relationship Type="http://schemas.openxmlformats.org/officeDocument/2006/relationships/notesSlide" Target="/ppt/notesSlides/notesSlide2.xml" Id="Rf74beda84bf847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ffcf273194fa4" /><Relationship Type="http://schemas.openxmlformats.org/officeDocument/2006/relationships/notesSlide" Target="/ppt/notesSlides/notesSlide3.xml" Id="R5eeb2883feca4e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93237f3dc4c56" /><Relationship Type="http://schemas.openxmlformats.org/officeDocument/2006/relationships/notesSlide" Target="/ppt/notesSlides/notesSlide4.xml" Id="R98dacce4ddd446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33bde23504506" /><Relationship Type="http://schemas.openxmlformats.org/officeDocument/2006/relationships/notesSlide" Target="/ppt/notesSlides/notesSlide5.xml" Id="R00e2c90edd1344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7f8bdfe24467d" /><Relationship Type="http://schemas.openxmlformats.org/officeDocument/2006/relationships/notesSlide" Target="/ppt/notesSlides/notesSlide6.xml" Id="R9a226c5a48134a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f453e1daa4edc" /><Relationship Type="http://schemas.openxmlformats.org/officeDocument/2006/relationships/notesSlide" Target="/ppt/notesSlides/notesSlide7.xml" Id="R47a6fba09d4c4b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604f60a164bd6" /><Relationship Type="http://schemas.openxmlformats.org/officeDocument/2006/relationships/notesSlide" Target="/ppt/notesSlides/notesSlide8.xml" Id="Ra7ec52fb4a474c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6eaf07d3f4afc" /><Relationship Type="http://schemas.openxmlformats.org/officeDocument/2006/relationships/notesSlide" Target="/ppt/notesSlides/notesSlide9.xml" Id="R875b7447060943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96333b6ab4b07" /><Relationship Type="http://schemas.openxmlformats.org/officeDocument/2006/relationships/notesSlide" Target="/ppt/notesSlides/notesSlide10.xml" Id="R82ae9c34b2eb41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ea3c5cca84a27" /><Relationship Type="http://schemas.openxmlformats.org/officeDocument/2006/relationships/notesSlide" Target="/ppt/notesSlides/notesSlide11.xml" Id="Rb4025399a93b40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548e5b5e644d1" /><Relationship Type="http://schemas.openxmlformats.org/officeDocument/2006/relationships/notesSlide" Target="/ppt/notesSlides/notesSlide12.xml" Id="Ra3f393b695b142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b6d95675a4e12" /><Relationship Type="http://schemas.openxmlformats.org/officeDocument/2006/relationships/notesSlide" Target="/ppt/notesSlides/notesSlide13.xml" Id="Rfa3e69f2a3e14f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78a1354604c8e" /><Relationship Type="http://schemas.openxmlformats.org/officeDocument/2006/relationships/notesSlide" Target="/ppt/notesSlides/notesSlide14.xml" Id="R4022ef1c610e4a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2991a0c08486d" /><Relationship Type="http://schemas.openxmlformats.org/officeDocument/2006/relationships/notesSlide" Target="/ppt/notesSlides/notesSlide15.xml" Id="Rc676de8ce9e041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311878823420f" /><Relationship Type="http://schemas.openxmlformats.org/officeDocument/2006/relationships/notesSlide" Target="/ppt/notesSlides/notesSlide16.xml" Id="R54676980b12844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d9a8d6d224c62" /><Relationship Type="http://schemas.openxmlformats.org/officeDocument/2006/relationships/notesSlide" Target="/ppt/notesSlides/notesSlide17.xml" Id="R8490718d9a9348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8f2103e7d41c0" /><Relationship Type="http://schemas.openxmlformats.org/officeDocument/2006/relationships/notesSlide" Target="/ppt/notesSlides/notesSlide18.xml" Id="R2f4a405d3a8a4b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23C43-2CF2-456D-A2B7-22C4654D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A14FD-FC38-4510-B3C5-819291A7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9FCFB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9FCFB"/>
                </a:solidFill>
                <a:latin typeface="Arial"/>
                <a:ea typeface="Arial"/>
                <a:cs typeface="Arial"/>
              </a:rPr>
              <a:t>HELIOS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7EE77-D905-4E3B-A890-195EE1CF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5F8F4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E5F8F4"/>
                </a:solidFill>
                <a:latin typeface="Arial"/>
                <a:ea typeface="Arial"/>
                <a:cs typeface="Arial"/>
              </a:rPr>
              <a:t>Turn patient waiting time into clinical intelligence.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EFF0F-244C-4F1B-B983-9B536299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A40E1-2BFD-467C-8C85-2F0AAC37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EC9D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C9D3"/>
                </a:solidFill>
                <a:latin typeface="Arial"/>
                <a:ea typeface="Arial"/>
                <a:cs typeface="Arial"/>
              </a:rPr>
              <a:t>SIH  ·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8124611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D3D2C-CF45-47B8-ADC2-2C7CD9AB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242E8-F687-4D01-A460-3F2C32AC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story arrives fragmented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7BB5F-A2CA-44C7-8590-56C3CEC4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1A7B6-E873-4208-803C-DE070C7F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BFF94-26E1-489B-AF11-C4B0FE70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CA5F4-43C1-49D5-AD04-6F086BB8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3B8F0-F703-4545-B11C-635E264A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B170C-071A-40D9-9950-F52A9A2E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Waiting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8C1CA-BB4F-45A9-B545-68B4DAB4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The patient is available before the consultation.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4B741-C75C-4CC2-8013-BBF06F48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83E56-1745-4597-9F41-E402F323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567CE-7036-4A17-855B-0D0EF4C1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Scattered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FAA16-FDA3-4852-9CF9-1C50D728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Symptoms, old reports, dates and medicines sit apart.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076B0-5BE1-483B-9812-9563C3EE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234C9-241F-4F67-942D-B223CB1E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48F37-7A47-4601-8158-EC1003C0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Language friction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F8EC9-4357-481A-BACC-64B2B4C5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Natural wording can be hard to capture in fixed fields.</a:t>
            </a:r>
          </a:p>
        </p:txBody>
      </p:sp>
    </p:spTree>
    <p:extLst>
      <p:ext uri="{BB962C8B-B14F-4D97-AF65-F5344CB8AC3E}">
        <p14:creationId xmlns:p14="http://schemas.microsoft.com/office/powerpoint/2010/main" val="1039246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062AD-632F-4883-8B7C-37C89243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5B64D-BCB5-4AF0-82B4-3FDF3A7D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Forms collect answers. Clinicians need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620EC-B739-4859-A7C8-5DD2F2ED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C6366-6F63-463E-9485-176AD7DA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11961-E816-4093-9EEC-B34F840E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0C1DB-C068-412C-B7E6-FC46D9B0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E194D-E342-4364-AE78-1B804591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EC06D-35D6-4DC6-972D-CD754889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encounter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38949-231E-41E5-B7C1-B3A14004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A field captures today, not the trajectory.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BD046-8C1F-49A2-ABAF-4E51F48C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55364-BBBD-4CFE-8568-8FD52D21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67802-48A1-47B7-B6F4-C634E903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77FA5-3438-416E-BC5E-7E4580CB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A document candidate needs its source and review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636D0-93A0-4E90-A3A8-7EEC81ED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85E6E-CB5C-4654-8C89-D1A66BC2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00BD6-A605-4906-97AB-281D2BC0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Change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3D963-2C5F-4F81-B07E-8CCF4D55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Prior versus current should be visible to the doctor.</a:t>
            </a:r>
          </a:p>
        </p:txBody>
      </p:sp>
    </p:spTree>
    <p:extLst>
      <p:ext uri="{BB962C8B-B14F-4D97-AF65-F5344CB8AC3E}">
        <p14:creationId xmlns:p14="http://schemas.microsoft.com/office/powerpoint/2010/main" val="368518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7683D-1FF0-4A0C-9293-5C6C63C5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3B220-BE76-4CDE-9628-4C4076C7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Intake becomes a doctor-ready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B1896-A97D-4DE1-8E51-912527EC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7DA7D-1D46-490B-BA95-97595A8B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73BF1-6F12-46BE-9E97-077304A9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4D63B-51CE-4C5D-9616-DF539499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E4AA1-8268-40FC-81DF-2E5D9A30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2127D-0C2B-40F6-8FB8-1C558114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041F4-529B-40C6-8324-530080BC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CC851-8FD9-4C6E-9E2C-24E6E449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Source-labelled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8E9E7-E6E8-418D-AAAA-68DD88B9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CC2E4-67D3-444D-8DE3-6E474E58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735BD-E172-4893-8EB7-34CC6B42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Timeline + brief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2CE89-5B74-4BFD-B789-A476C334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F468E-BA4D-484A-B58A-41E6085B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2AB9E-1874-48E3-A431-ACBC6055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F63DB-8F5E-40B0-A088-A9A6321F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The doctor remains the final clinical decision-maker.</a:t>
            </a:r>
          </a:p>
        </p:txBody>
      </p:sp>
    </p:spTree>
    <p:extLst>
      <p:ext uri="{BB962C8B-B14F-4D97-AF65-F5344CB8AC3E}">
        <p14:creationId xmlns:p14="http://schemas.microsoft.com/office/powerpoint/2010/main" val="596059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1CEFCB-469E-4265-A91B-A578F6CC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6903F-3BEB-4E6C-B3E7-5A02C706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patient speaks naturally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14406-238A-4435-9F58-9BDD041B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36543-8CB4-4622-B243-1B606CE8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42BE7-B8CC-4AA7-BED7-26317AD4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AF80D-4590-4BE2-A4C8-74EF6E9E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F7EC5-0BDF-4CDC-8046-BA742F63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169C7-6929-43C6-A9B0-A18C1809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  Consent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9B6B7-194E-4290-BAD0-FF73B9C8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Choose English or Hindi before clinical capture.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6EF9B-06CA-4F1E-8163-F5C4CD71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5490A-ED23-46C1-A677-E86BCDE0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6A2AE-72FB-4F0D-B94D-CDC2B42D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  Describe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F1E13-D678-481D-8A86-370C83B2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Speak or type; answer adaptive questions.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79A61-8BC8-41A0-9641-B3A882BA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3434E-1B70-4C41-92C2-5B8B463F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4DCF6-9C2A-41F6-9581-BE2B8CAE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3A945-194C-40A8-B5B6-1E27BEF4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Check document candidates, submit and receive a token.</a:t>
            </a:r>
          </a:p>
        </p:txBody>
      </p:sp>
    </p:spTree>
    <p:extLst>
      <p:ext uri="{BB962C8B-B14F-4D97-AF65-F5344CB8AC3E}">
        <p14:creationId xmlns:p14="http://schemas.microsoft.com/office/powerpoint/2010/main" val="16477802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74077-FDFB-40B7-8A6F-6C17D8DB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FC49F-2CC7-4526-B7FF-CDCB42D8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transparent processing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0672E-9013-4B06-91E9-E3FDC16E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7F3DF-1611-4E2C-B57C-551ABB03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4FA90-812B-4D28-BEE3-B9AC4F97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1042E-95A2-41BB-B562-77C5BB82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64D46-FDD3-4EC5-84B3-D9408762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Confirmed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AC041-2ADA-4A01-9272-3A965383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90A28-33FB-4702-BEF0-15D3396D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FE8AF-06BD-4D61-9600-75F6EB0D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Interview +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89CEC-27DE-44ED-93A2-2AE27818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B954F-3729-4075-AD95-DAEF03C5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F7F71-5762-43DC-A5FB-FF29CFAE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+ timeline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602C1-C2C4-4E1C-8A5E-75538152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B7089-2CFD-45DA-A914-100EF4E5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C12FB-5512-4165-8A26-34CBC110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Comparison + brief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D833B-EBA5-4FC1-90A6-47A67478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C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C96"/>
                </a:solidFill>
                <a:latin typeface="Arial"/>
                <a:ea typeface="Arial"/>
                <a:cs typeface="Arial"/>
              </a:rPr>
              <a:t>AI adapters assist  ·  Deterministic services govern  ·  Doctor verifies</a:t>
            </a:r>
          </a:p>
        </p:txBody>
      </p:sp>
    </p:spTree>
    <p:extLst>
      <p:ext uri="{BB962C8B-B14F-4D97-AF65-F5344CB8AC3E}">
        <p14:creationId xmlns:p14="http://schemas.microsoft.com/office/powerpoint/2010/main" val="2044400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6ABEF-AD88-4681-8C97-996FAA55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3AE3C-9718-40C4-9666-30B5D078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doctor sees the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7E458-795C-49DE-B429-96DDC258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53869-B423-4434-BFB3-C8071A2B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B316F-4BF4-4D21-B871-0C9607DD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074C0-9DA1-4AC6-A47B-DD05DD8B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A91AB-410F-409F-96BA-47CD2BE3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5A943-95DD-411C-8F4E-975C8224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4D9E2-7549-4897-B6CD-9AA9016E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Call, start and complete from persisted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3D7EC-20C2-4F29-B0C0-8BC9A63A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2384A-82A4-4782-8F2F-37DE6E75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29C01-EAC1-47C9-9442-76CD6944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6EEA5-838B-4068-AF3B-412D93B9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Brief, What Changed, timeline and document sources.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C6156-4D57-4CA3-B3AB-70BA035D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9E69E-EEAB-4A1F-8D7A-F6726899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BCBED-6285-41EB-8B04-3DAB513E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41864-8FD6-45C8-B02C-1190DF7E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Verify, correct, reject or mark uncertain.</a:t>
            </a:r>
          </a:p>
        </p:txBody>
      </p:sp>
    </p:spTree>
    <p:extLst>
      <p:ext uri="{BB962C8B-B14F-4D97-AF65-F5344CB8AC3E}">
        <p14:creationId xmlns:p14="http://schemas.microsoft.com/office/powerpoint/2010/main" val="4462008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B993B-00E0-49E3-BBEF-3C03DB42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8BDCA-9A3A-4B8A-842A-3FADF1A8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Innovation is the connected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AFAD7-EB29-4A3B-B918-41A367D6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6BD34-C067-44AF-A937-114C3DE2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3D612-E583-4B37-868E-C0216FB7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6578C-C96A-4D72-AB77-0F59C76A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55834-FA72-492D-91B1-E951C805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86CD5-76F4-44D0-834C-7539822E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Before visit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A823F-0D43-4F4E-B993-8C8D809D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Multilingual consented intake + real token.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2CE98-36B4-4DC2-A87F-406E788F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B7DCD-F6EC-43F1-8D13-CA6C8C0C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B342E-57A7-4079-9D69-F4F7880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visits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6CF69-ABC0-45D5-9237-66FCF375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Evidence-linked timeline and comparison.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72C36-CC3D-47AB-AE82-EFA557C5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B136F-B5B8-4953-9E19-438A2CB0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70471-EF63-4923-AE69-E6F4E57D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At the doctor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A7BD8-9238-4EAA-A1E7-9DA6EE40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Concise brief plus explicit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912280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1323A-F83C-40FD-AE31-E4F2CB0E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F8DC1-D7D4-4FE9-9169-49FE3FE9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Clinical authority stays with the doctor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AB752-4F35-4F3D-9EE5-D690B807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42D15-5DE9-4D8E-B2E8-13CB58DC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1B200-281B-4DC0-A8F4-0CA2807B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F29D2-B0F9-4886-87C4-0C3FC542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0292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72F6F-E76B-48AD-8AE7-7AC0C116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0D0B3-32CF-4220-AAEE-CF30CAA6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57425"/>
            <a:ext cx="4533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F5F0F-B65F-4163-8F22-300EA417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533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Source provenance, uncertainty, doctor verification and controlled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CD421-1B4A-4ADC-90C6-9A06C77D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54483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814AA-A009-4EDF-A930-9B2A4ACF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B535C-53D4-4CC0-A6E7-88061223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5742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 — not 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F9E08-572B-4DFA-BA7F-7935B1A7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14625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Clinician-approved, versioned SafetyEngine with testing and governance.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8E2A8-F701-4F93-9477-F6C069D4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35C5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5C59"/>
                </a:solidFill>
                <a:latin typeface="Arial"/>
                <a:ea typeface="Arial"/>
                <a:cs typeface="Arial"/>
              </a:rPr>
              <a:t>No automated clinical safety signal is claimed.</a:t>
            </a:r>
          </a:p>
        </p:txBody>
      </p:sp>
    </p:spTree>
    <p:extLst>
      <p:ext uri="{BB962C8B-B14F-4D97-AF65-F5344CB8AC3E}">
        <p14:creationId xmlns:p14="http://schemas.microsoft.com/office/powerpoint/2010/main" val="1146967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01ED13-073B-4BFF-941A-C8758AF5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D0BB6-6F85-4A9B-BDB0-329133EB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backend. Two protected experiences.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3A34B-5A53-4C94-B70F-733F526D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77A02-C8E6-40F2-B938-FC16AAFF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D4480-6AF4-47A8-AC19-88264D76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9AE26-F22B-43AB-987D-E1165F75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286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B0E0F-699B-458C-A3A2-DFF35FEE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C1546-A699-41E8-ACC5-603D3D55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66079-EB1F-450F-9E01-5CDF38FC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Signed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19479-4638-42F0-A0AC-8279D17E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286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E5FE5-ED1C-41D6-9802-E89A5DF5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9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C5B8D-E992-49BC-9F21-58D3F905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routes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9D03B-D89F-44ED-9822-7DCAE4C9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Signed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4C2AD-CEBA-471C-A1C9-7C6AD492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47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13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2D722-D035-4208-B6AC-2D9AF564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95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13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2C7D6-179B-4AF4-808E-D1F7B27D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05075"/>
            <a:ext cx="291465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07603-A77D-4C95-B6C8-8517F9DE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05075"/>
            <a:ext cx="762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9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6CC4E-94C4-46DE-84D4-1F66DC88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14625"/>
            <a:ext cx="241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F17BE-50B8-4D58-84A3-3A897568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71825"/>
            <a:ext cx="2419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Object checks + domain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AA521-5056-406D-AE44-F71A15CE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956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13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A63C6-8005-438D-BDE9-01211D85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05075"/>
            <a:ext cx="35814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55A9C-C9BC-4174-A7B1-14181EA4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05075"/>
            <a:ext cx="762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CA506-81E4-436A-8EA6-7F90D79A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14625"/>
            <a:ext cx="3086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CD367-F331-419F-8FDD-86D5F79C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71825"/>
            <a:ext cx="308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Accessed via Prisma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80793-C4E8-4444-8869-C8781375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API also reaches private local storage and bounded provider adapters.</a:t>
            </a:r>
          </a:p>
        </p:txBody>
      </p:sp>
    </p:spTree>
    <p:extLst>
      <p:ext uri="{BB962C8B-B14F-4D97-AF65-F5344CB8AC3E}">
        <p14:creationId xmlns:p14="http://schemas.microsoft.com/office/powerpoint/2010/main" val="405977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D7874-6BE7-42C6-801D-45AE2CFE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3FB1E-7308-4969-9A4A-E6FEF03C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Language and AYUSH stay source-aware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67930-11E6-4CDC-AC2A-46D94F69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AFC08-48B7-48CE-A07C-AA95317E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B145D-8621-4BD2-91E2-9C6F5888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06A3C-5C14-4248-858A-C95D08B7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89F93-9488-434E-A618-8D43E5CB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EF5F0-B050-4B48-8EB3-163FF97D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English + Hindi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CB308-48FE-44A4-86D2-4738235D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Patient-facing UI and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5813E-8C34-4A07-9DD8-A5366B65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AC884-95E1-4B4E-B327-657C3E04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221F3-8875-4D89-87D6-4F096789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Original wording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EBA79-463B-4146-B44D-60598CBA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Preserved beside normalized terms.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0B7EF-507A-43A0-B925-1E9CD015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DBAD4-9137-454C-B0ED-5A71CBCB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3B2FF-CB1A-4B00-BBD7-78E42CB2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AYUSH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1B4D9-B2C4-4836-986B-68C96AC3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System, treatment, timing and evidence in the record.</a:t>
            </a:r>
          </a:p>
        </p:txBody>
      </p:sp>
    </p:spTree>
    <p:extLst>
      <p:ext uri="{BB962C8B-B14F-4D97-AF65-F5344CB8AC3E}">
        <p14:creationId xmlns:p14="http://schemas.microsoft.com/office/powerpoint/2010/main" val="18743673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18F94-0398-4AF8-8560-40ADE74E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1C108-7634-4AA0-ABF6-4FA07E89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Documents add evidence, not automatic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03BAB-E1A2-4350-8DAC-D9EFC02A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DDFAB-F0DF-46F8-BB36-BB217F96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34871-2136-44BB-A0ED-96CCA784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0878F-F24A-4B56-BE6C-6A5F5690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44E6D-9D77-4D03-ACBB-0F3D5888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Validated 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AC3C6-C98A-49C2-8944-EE9989A0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30519-C4E5-48A0-B952-F5B0F72E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851CC-2980-4060-B37B-FEF65753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Mock/local OCR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929C6-908B-4630-9385-3CB04550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EE990-B2FF-4F91-A6B8-1F874EF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88966-E598-417E-A93A-6F37CA81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Page-linked 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0A8AA-3305-47B6-8B31-6D7009C0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EE58F-A9EA-4B5A-AAD5-2827DCC1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104E4-F97D-43EA-991E-D568F196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+ doctor review</a:t>
            </a:r>
          </a:p>
        </p:txBody>
      </p:sp>
    </p:spTree>
    <p:extLst>
      <p:ext uri="{BB962C8B-B14F-4D97-AF65-F5344CB8AC3E}">
        <p14:creationId xmlns:p14="http://schemas.microsoft.com/office/powerpoint/2010/main" val="6083654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2795C-067D-4E20-9CE1-6FCAA2E4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8E6BB-ED7D-4C68-B446-717D6D7A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Before → current → difference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21F65-6E62-42FA-A2D5-BD085601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961F8-4749-4A19-9D55-118E448A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EC375-B96F-4E5E-B9C1-CAF32217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C134E-5AAA-4EDE-B647-D85112B6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F9316-5BCF-4BA0-B399-96382A06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7E576-B3AC-4536-8A09-28D59EE0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AAB60-4E9E-4C9F-BFA3-052B9141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Source-labelled events across visits.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47A8D-C21E-492E-932E-F2EFD379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9BD24-E212-4426-BFA4-B089F065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DC0CE-039F-413D-B1F3-F0131A62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Changed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3DA39-5064-4CFF-AC8A-7F791F29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Snapshot comparison highlights differences.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627F8-9AB0-4F6A-BB5B-103835FE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0D165-C0FA-44AD-AB9B-9AAE3FA9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12EFA-ED96-4E12-89CF-D78DB323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Clinical Brief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51E37-EFC1-4B5D-AAEC-8173C491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Short, versioned context for doctor review.</a:t>
            </a:r>
          </a:p>
        </p:txBody>
      </p:sp>
    </p:spTree>
    <p:extLst>
      <p:ext uri="{BB962C8B-B14F-4D97-AF65-F5344CB8AC3E}">
        <p14:creationId xmlns:p14="http://schemas.microsoft.com/office/powerpoint/2010/main" val="16251881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7F262-7A49-4537-8485-CF447629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D4444-3A7B-4C20-9175-5C0EB414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queue makes intake operational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E6F6D-4943-4147-9E84-CF263E43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4FFF6-8CD9-4276-8BFD-DD644B36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9A9EB-9AFB-4A25-80A7-E3108B21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CA4D3-56F5-4AD8-B513-F31AD9A3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874F3-1086-4B79-A09A-8F70A7D6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Submit + check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84871-D543-4924-A204-33BF6D7B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BA95A-AE39-478D-9EAE-3DC4EACB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54654-2FCF-439D-B8FE-696A166F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Daily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77A26-EC89-40A3-AEBF-401ADEA5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ABA9B-8486-4EBC-A06D-AB757E0A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CAACA-FB75-41F7-9A13-036210D4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98DE7-2197-4530-9859-0C3747B6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BD7FF-5FAE-4B38-A19F-D3877EB9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D20B0-C16E-41E5-BEAB-D319D6AE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sees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91E01-5DEB-4612-9F32-56A29091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35C5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5C59"/>
                </a:solidFill>
                <a:latin typeface="Arial"/>
                <a:ea typeface="Arial"/>
                <a:cs typeface="Arial"/>
              </a:rPr>
              <a:t>Queue priority is not a clinical risk signal.</a:t>
            </a:r>
          </a:p>
        </p:txBody>
      </p:sp>
    </p:spTree>
    <p:extLst>
      <p:ext uri="{BB962C8B-B14F-4D97-AF65-F5344CB8AC3E}">
        <p14:creationId xmlns:p14="http://schemas.microsoft.com/office/powerpoint/2010/main" val="1143870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02715-4A5E-4386-9626-BD403D1C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D101D-895F-4AF0-9E7B-FEF64271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Access is checked at the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4EE85-4ECD-4BCD-AA1A-8C10BBA6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47635-5181-4018-B53D-934C93E8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C2C1A-ED43-42EB-8C28-AE0CF386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6B192-13B1-4CC7-AF1A-32E2E73D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817D1-00CD-4CEA-B8D7-3ED4F5BB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AA78E-72C9-4ED3-B1F8-76BEA3FB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65798-ADD4-49B8-B71A-92997FF5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Ownership checked on every patient object.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B5BC6-AD85-403C-B876-DAD8CF48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E97EC-D72E-4660-95CB-8D078321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E966B-F59E-4016-A0A2-0167AC39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585B7-4163-42F6-9EC4-F0CD5A2C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Role/assignment checks gate workspace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B7C52-F6E0-45C1-AD5D-52274F13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46539-92FA-45E6-B62B-2CEF8CA7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887A0-3262-4F2C-8836-F0529A98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Demo guard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2BE08-B057-4E48-B5E9-2567E8A8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Reset restricted to local synthetic database.</a:t>
            </a:r>
          </a:p>
        </p:txBody>
      </p:sp>
    </p:spTree>
    <p:extLst>
      <p:ext uri="{BB962C8B-B14F-4D97-AF65-F5344CB8AC3E}">
        <p14:creationId xmlns:p14="http://schemas.microsoft.com/office/powerpoint/2010/main" val="10018223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6C50D-FA86-4CE4-AD99-AC816A7D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7E5CF-6DA3-41F6-A0C4-677A44B3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Live demo: follow one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D3779-62E6-411A-A8AC-5F21328D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A8C25-236C-445C-9468-4B9EECAB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9043C-0CAE-4522-B800-A4CE7D71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8AA5E-9902-48FC-8B37-748C2C4A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0D3E2-1AB0-471E-88C7-FD387E16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Hindi + typed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544BD-9100-4284-A33F-07C206E2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87AB9-8880-4F48-A5C7-E9167ED2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9CE56-99A1-4107-B3E1-B8C3546B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Questions +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C6D27-3E96-4EC5-B754-3B383819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B7010-D083-49DA-9C6E-42F170B6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3184F-DB04-4AB2-AAF2-BD76C75B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47E55-598C-4F6A-9EC5-A566FCDE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03A2D-351D-40AE-ACFF-87F033CD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1AD3E-3927-4E7A-9C96-1176988E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+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ED51A-6DC4-4952-99E5-8E0E97B8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Synthetic data  ·  Backend state  · 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13330657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D5CD2-528A-416F-A98F-1A2269EB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42A3B-C70B-4CF9-B93F-E22C5925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Now is a prototype. Next is clinical readiness.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38F11-7C05-4203-A346-4AF42560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418A3-A1C6-4476-9EF0-4F90D04C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54363-8BFD-43B9-BA79-A79C7E8E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F96AC-3853-4C89-997A-E0083998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029200" cy="2886075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4B7DF-D3D3-4A82-8A28-F904F029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62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89C9D-AFF6-4339-9451-B37BFCF0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533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IMPLEMENTED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34C27-FDB8-4D5D-8633-7CEE7FFC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5339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Intake, provenance, timeline, comparison, brief, queue, verification and guarded synthetic demo.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98343-5823-42B9-92D3-8796C60B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5448300" cy="2886075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26AE3-1248-46CA-B842-F26F390F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762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D13F9-33B3-4F07-B1C8-9685804C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2FE39-C323-4082-B0B8-F12EB1AE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4953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Clinical SafetyEngine; production identity and retention; provider and full-browser clinical evaluation.</a:t>
            </a:r>
          </a:p>
        </p:txBody>
      </p:sp>
    </p:spTree>
    <p:extLst>
      <p:ext uri="{BB962C8B-B14F-4D97-AF65-F5344CB8AC3E}">
        <p14:creationId xmlns:p14="http://schemas.microsoft.com/office/powerpoint/2010/main" val="14240019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AB175-23C6-45BB-B5CC-BF435047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E0E1B-C65C-407E-9A49-C232C80A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287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9FCFB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9FCFB"/>
                </a:solidFill>
                <a:latin typeface="Arial"/>
                <a:ea typeface="Arial"/>
                <a:cs typeface="Arial"/>
              </a:rPr>
              <a:t>A clearer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28ECF-CCBE-49D6-A9AF-61CE41E5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D8F3E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D8F3EF"/>
                </a:solidFill>
                <a:latin typeface="Arial"/>
                <a:ea typeface="Arial"/>
                <a:cs typeface="Arial"/>
              </a:rPr>
              <a:t>before the consultation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96E6C-2A58-4D0B-ADCC-4D27EE9C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2589A-275D-4E51-BA4C-6464D5FB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9FCF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9FCFB"/>
                </a:solidFill>
                <a:latin typeface="Arial"/>
                <a:ea typeface="Arial"/>
                <a:cs typeface="Arial"/>
              </a:rPr>
              <a:t>HELIOS does not replace the doctor.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602B0-9E45-4CD9-A9B2-1217DA64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7DD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7DDE0"/>
                </a:solidFill>
                <a:latin typeface="Arial"/>
                <a:ea typeface="Arial"/>
                <a:cs typeface="Arial"/>
              </a:rPr>
              <a:t>Turn patient waiting time into clinical intelligence.</a:t>
            </a:r>
          </a:p>
        </p:txBody>
      </p:sp>
    </p:spTree>
    <p:extLst>
      <p:ext uri="{BB962C8B-B14F-4D97-AF65-F5344CB8AC3E}">
        <p14:creationId xmlns:p14="http://schemas.microsoft.com/office/powerpoint/2010/main" val="853153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2026-09-14T20:42:30.4210000Z</dcterms:created>
  <dcterms:modified xsi:type="dcterms:W3CDTF">2026-09-14T20:42:30.4210000Z</dcterms:modified>
</coreProperties>
</file>